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40f6e9a-eadb-7c27-3ae5-7a8977e5ba74}">
          <p14:sldIdLst>
            <p14:sldId id="256"/>
          </p14:sldIdLst>
        </p14:section>
        <p14:section name="Problem" id="{410898f5-d9f9-c2ff-8c51-570bfb5a408f}">
          <p14:sldIdLst>
            <p14:sldId id="257"/>
          </p14:sldIdLst>
        </p14:section>
        <p14:section name="Solution" id="{2fd4660b-df90-33a1-8cda-a07562c78c53}">
          <p14:sldIdLst>
            <p14:sldId id="258"/>
          </p14:sldIdLst>
        </p14:section>
        <p14:section name="AI and trust" id="{221d7e5d-156a-1d0c-cd10-ffa67fa9eb7a}">
          <p14:sldIdLst>
            <p14:sldId id="259"/>
          </p14:sldIdLst>
        </p14:section>
        <p14:section name="Demo" id="{5af8f324-ff09-d16f-9119-33b9ae6e567b}">
          <p14:sldIdLst>
            <p14:sldId id="260"/>
          </p14:sldIdLst>
        </p14:section>
        <p14:section name="Impact" id="{fb0ce1ea-ced9-fe4c-853f-21be7ffaddca}">
          <p14:sldIdLst>
            <p14:sldId id="261"/>
          </p14:sldIdLst>
        </p14:section>
        <p14:section name="Close" id="{174fd6d3-186c-2624-a92d-b2316150b9d6}">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Assalam o Alaikum. I'm Abdul Sammi. SkillLeak is curriculum intelligence for Pakistani engineering departments. It answers one question faculty rarely have time to check: do our exams actually test what our course learning outcomes promise - and what employers ask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[0:20-1:05] Here is the problem in one example from our demo course file, which is synthetic data written in the style of a Pakistani OBE course outline. CLO-5 promises students can DIAGNOSE and RESOLVE network faults - cognitive level C4. The only exam question tagged to it says 'List the steps'. That is recall, C1. On the marks sheet every student passes it, so the course file reports CLO-5 as 100% attained - yet in the supplied papers nobody was asked to troubleshoot anything. Meanwhile 3 of the 4 public Pakistani job postings we sourced ask exactly for troubleshooting, and HEC's 2025 policy pushes programmes toward industry-relevant skills. Faculty check CLO-question alignment by hand in course files - it's slow, so problems like this survive.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[1:05-1:40] SkillLeak takes the documents a department already has. The AI does the reading: it extracts every CLO and every exam question, rates the cognitive demand of each question by what the student must actually do, and maps questions to CLOs and to employer skills. Code then verifies: every quote the AI gives must exist in the source document, a second blind AI rater re-rates each question, and findings come from fixed rules. Faculty stay in charge: they can correct any rating and generate an aligned question or a practical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[1:40-2:15] Judges will ask: how do you know the AI is right? A published study reports zero-shot LLMs at about 72 to 73 percent on Bloom classification, and most errors are one level off. A classic keyword rule gets 62.7 percent on a public 600-question labelled set - we measured that. So SkillLeak never trusts a single rating. One AI rater sees the CLO, a second is blind to it. A mismatch is flagged only if both put the question below the CLO level; if they disagree, faculty review it. Two ratings from one model show consistency, not proof - faculty always have the final say. Every quote is verified against the source document. (If you ran the AI benchmark in the Validation tab, say its number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[2:15-4:15] Switch to the app (already open, key loaded, sample analysis run beforehand; saved scan as backup). 1) Documents tab &gt; Quick check: invite a judge to type a question, or use the prefilled one - show rater 1, rater 2, verdict. 2) CLO Alignment: CLO-5 Potential mismatch, severity high; open it - quoted question, marks, both ratings. 3) Attainment &amp; PLO: the attainment-validity concern - 100% attained under the thresholds, but the supplied evidence only reaches C1/C2. Say it is a prompt to check, not proof. 4) Back on CLO-5: Generate aligned assessment item - show before/after levels. Mention faculty corrections. 5) Industry Gaps: troubleshooting demanded by real postings vs recall-only coverage; Student Mode plan. If the internet fails: Sidebar &gt; Saved scans &gt; Load saved scan - it is labelled as a replay.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[4:15-4:40] Who uses it: faculty, OBE and QEC coordinators, heads of department, and students. The output drops into what departments already maintain - a CLO-by-question matrix and attainment sheet in Excel. It supports SDG 4 and SDG 8: assessments that make students demonstrate the skills employers hire for. Adoption is one department pilot, then every course, then a programme-level PLO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[4:40-5:00] Everything here was built during AICON - I used Claude as a coding assistant and Gemini at runtime, and I can explain every rule. It's decision support, not an accreditation verdict; the demo course is synthetic, the postings are real. Next step: pilot it on one real course file with its faculty.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005840"/>
          </a:xfrm>
          <a:prstGeom prst="rect">
            <a:avLst/>
          </a:prstGeom>
          <a:noFill/>
          <a:ln/>
        </p:spPr>
        <p:txBody>
          <a:bodyPr wrap="square" rtlCol="0"/>
          <a:lstStyle>
            <a:lvl1pPr algn="l" indent="0" marL="0">
              <a:buNone/>
              <a:defRPr lang="en-US" sz="4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800" dirty="0"/>
          </a:p>
        </p:txBody>
      </p:sp>
      <p:sp>
        <p:nvSpPr>
          <p:cNvPr id="3" name="Text 0"/>
          <p:cNvSpPr/>
          <p:nvPr>
            <p:ph idx="101" type="body" hasCustomPrompt="1"/>
          </p:nvPr>
        </p:nvSpPr>
        <p:spPr>
          <a:xfrm>
            <a:off x="548640" y="2468880"/>
            <a:ext cx="7498080" cy="91440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28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VIDER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2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FD8D5"/>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005840"/>
          </a:xfrm>
          <a:prstGeom prst="rect">
            <a:avLst/>
          </a:prstGeom>
          <a:noFill/>
          <a:ln/>
        </p:spPr>
        <p:txBody>
          <a:bodyPr wrap="square" rtlCol="0" anchor="ctr"/>
          <a:lstStyle/>
          <a:p>
            <a:pPr algn="l" indent="0" marL="0">
              <a:buNone/>
            </a:pPr>
            <a:r>
              <a:rPr lang="en-US" sz="4800" b="1" dirty="0">
                <a:solidFill>
                  <a:schemeClr val="bg1"/>
                </a:solidFill>
                <a:latin typeface="Cambria" pitchFamily="34" charset="0"/>
                <a:ea typeface="Cambria" pitchFamily="34" charset="-122"/>
                <a:cs typeface="Cambria" pitchFamily="34" charset="-120"/>
              </a:rPr>
              <a:t>SkillLeak AI</a:t>
            </a:r>
            <a:endParaRPr lang="en-US" sz="4800" dirty="0"/>
          </a:p>
        </p:txBody>
      </p:sp>
      <p:sp>
        <p:nvSpPr>
          <p:cNvPr id="3" name="Text 0"/>
          <p:cNvSpPr/>
          <p:nvPr>
            <p:ph idx="101" type="body" hasCustomPrompt="1"/>
          </p:nvPr>
        </p:nvSpPr>
        <p:spPr>
          <a:xfrm>
            <a:off x="548640" y="2468880"/>
            <a:ext cx="7498080" cy="914400"/>
          </a:xfrm>
          <a:prstGeom prst="rect">
            <a:avLst/>
          </a:prstGeom>
          <a:noFill/>
          <a:ln/>
        </p:spPr>
        <p:txBody>
          <a:bodyPr wrap="square" rtlCol="0" anchor="t"/>
          <a:lstStyle/>
          <a:p>
            <a:pPr indent="0" marL="0">
              <a:buNone/>
            </a:pPr>
            <a:r>
              <a:rPr lang="en-US" sz="1800" dirty="0">
                <a:solidFill>
                  <a:schemeClr val="bg2"/>
                </a:solidFill>
              </a:rPr>
              <a:t>Find curriculum gaps. Verify assessment alignment. Prepare graduates for real-world engineering.</a:t>
            </a:r>
            <a:endParaRPr lang="en-US" sz="1800" dirty="0"/>
          </a:p>
        </p:txBody>
      </p:sp>
      <p:sp>
        <p:nvSpPr>
          <p:cNvPr id="4" name="Logo circle"/>
          <p:cNvSpPr/>
          <p:nvPr/>
        </p:nvSpPr>
        <p:spPr>
          <a:xfrm>
            <a:off x="7635240" y="502920"/>
            <a:ext cx="960120" cy="960120"/>
          </a:xfrm>
          <a:prstGeom prst="ellipse">
            <a:avLst/>
          </a:prstGeom>
          <a:solidFill>
            <a:schemeClr val="accent1"/>
          </a:solidFill>
          <a:ln w="12700">
            <a:solidFill>
              <a:schemeClr val="accent1"/>
            </a:solidFill>
            <a:prstDash val="solid"/>
          </a:ln>
        </p:spPr>
      </p:sp>
      <p:pic>
        <p:nvPicPr>
          <p:cNvPr id="5" name="Logo icon" descr="preencoded.png">    </p:cNvPr>
          <p:cNvPicPr>
            <a:picLocks noChangeAspect="1"/>
          </p:cNvPicPr>
          <p:nvPr/>
        </p:nvPicPr>
        <p:blipFill>
          <a:blip r:embed="rId1"/>
          <a:stretch>
            <a:fillRect/>
          </a:stretch>
        </p:blipFill>
        <p:spPr>
          <a:xfrm>
            <a:off x="7884871" y="752551"/>
            <a:ext cx="460858" cy="460858"/>
          </a:xfrm>
          <a:prstGeom prst="rect">
            <a:avLst/>
          </a:prstGeom>
        </p:spPr>
      </p:pic>
      <p:sp>
        <p:nvSpPr>
          <p:cNvPr id="6" name="Text 3"/>
          <p:cNvSpPr txBox="1"/>
          <p:nvPr/>
        </p:nvSpPr>
        <p:spPr>
          <a:xfrm>
            <a:off x="548640" y="3977640"/>
            <a:ext cx="6858000" cy="640080"/>
          </a:xfrm>
          <a:prstGeom prst="rect">
            <a:avLst/>
          </a:prstGeom>
          <a:noFill/>
          <a:ln/>
        </p:spPr>
        <p:txBody>
          <a:bodyPr wrap="square" lIns="0" tIns="0" rIns="0" bIns="0" rtlCol="0" anchor="ctr"/>
          <a:lstStyle/>
          <a:p>
            <a:pPr indent="0" marL="0">
              <a:buNone/>
            </a:pPr>
            <a:r>
              <a:rPr lang="en-US" sz="1400" dirty="0">
                <a:solidFill>
                  <a:schemeClr val="accent6"/>
                </a:solidFill>
              </a:rPr>
              <a:t>AICON'26 · Build With AI · EdTech &amp; Workforce</a:t>
            </a:r>
            <a:endParaRPr lang="en-US" sz="1400" dirty="0"/>
          </a:p>
          <a:p>
            <a:pPr indent="0" marL="0">
              <a:buNone/>
            </a:pPr>
            <a:r>
              <a:rPr lang="en-US" sz="1400" dirty="0">
                <a:solidFill>
                  <a:schemeClr val="accent6"/>
                </a:solidFill>
              </a:rPr>
              <a:t>Abdul Sammi Khan · NUST SEECS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100% attained - exam evidence reaches only C1</a:t>
            </a:r>
            <a:endParaRPr lang="en-US" sz="2800" dirty="0"/>
          </a:p>
        </p:txBody>
      </p:sp>
      <p:sp>
        <p:nvSpPr>
          <p:cNvPr id="3" name="Example card"/>
          <p:cNvSpPr/>
          <p:nvPr/>
        </p:nvSpPr>
        <p:spPr>
          <a:xfrm>
            <a:off x="457200" y="1143000"/>
            <a:ext cx="4572000" cy="3520440"/>
          </a:xfrm>
          <a:prstGeom prst="roundRect">
            <a:avLst>
              <a:gd name="adj" fmla="val 207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685800" y="1280160"/>
            <a:ext cx="4206240" cy="274320"/>
          </a:xfrm>
          <a:prstGeom prst="rect">
            <a:avLst/>
          </a:prstGeom>
          <a:noFill/>
          <a:ln/>
        </p:spPr>
        <p:txBody>
          <a:bodyPr wrap="square" lIns="0" tIns="0" rIns="0" bIns="0" rtlCol="0" anchor="ctr"/>
          <a:lstStyle/>
          <a:p>
            <a:pPr indent="0" marL="0">
              <a:buNone/>
            </a:pPr>
            <a:r>
              <a:rPr lang="en-US" sz="1000" b="1" spc="100" kern="0" dirty="0">
                <a:solidFill>
                  <a:schemeClr val="accent5"/>
                </a:solidFill>
              </a:rPr>
              <a:t>EXAMPLE FROM OUR SYNTHETIC DEMO COURSE FILE</a:t>
            </a:r>
            <a:endParaRPr lang="en-US" sz="1000" dirty="0"/>
          </a:p>
        </p:txBody>
      </p:sp>
      <p:sp>
        <p:nvSpPr>
          <p:cNvPr id="5" name="Text 3"/>
          <p:cNvSpPr txBox="1"/>
          <p:nvPr/>
        </p:nvSpPr>
        <p:spPr>
          <a:xfrm>
            <a:off x="685800" y="1600200"/>
            <a:ext cx="3246120" cy="868680"/>
          </a:xfrm>
          <a:prstGeom prst="rect">
            <a:avLst/>
          </a:prstGeom>
          <a:noFill/>
          <a:ln/>
        </p:spPr>
        <p:txBody>
          <a:bodyPr wrap="square" lIns="0" tIns="0" rIns="0" bIns="0" rtlCol="0" anchor="t"/>
          <a:lstStyle/>
          <a:p>
            <a:pPr indent="0" marL="0">
              <a:buNone/>
            </a:pPr>
            <a:r>
              <a:rPr lang="en-US" sz="1400" b="1" dirty="0">
                <a:solidFill>
                  <a:schemeClr val="tx2"/>
                </a:solidFill>
              </a:rPr>
              <a:t>CLO-5  </a:t>
            </a:r>
            <a:pPr indent="0" marL="0">
              <a:buNone/>
            </a:pPr>
            <a:r>
              <a:rPr lang="en-US" sz="1400" dirty="0">
                <a:solidFill>
                  <a:schemeClr val="tx1"/>
                </a:solidFill>
              </a:rPr>
              <a:t>Diagnose and resolve common connectivity faults in small routed and switched networks.</a:t>
            </a:r>
            <a:endParaRPr lang="en-US" sz="1400" dirty="0"/>
          </a:p>
        </p:txBody>
      </p:sp>
      <p:sp>
        <p:nvSpPr>
          <p:cNvPr id="6" name="CLO level chip"/>
          <p:cNvSpPr/>
          <p:nvPr/>
        </p:nvSpPr>
        <p:spPr>
          <a:xfrm>
            <a:off x="3977640" y="1645920"/>
            <a:ext cx="868680" cy="384048"/>
          </a:xfrm>
          <a:prstGeom prst="roundRect">
            <a:avLst>
              <a:gd name="adj" fmla="val 14286"/>
            </a:avLst>
          </a:prstGeom>
          <a:solidFill>
            <a:schemeClr val="accent1"/>
          </a:solidFill>
          <a:ln w="12700">
            <a:solidFill>
              <a:schemeClr val="accent1"/>
            </a:solidFill>
            <a:prstDash val="solid"/>
          </a:ln>
        </p:spPr>
      </p:sp>
      <p:sp>
        <p:nvSpPr>
          <p:cNvPr id="7" name="Text 5"/>
          <p:cNvSpPr txBox="1"/>
          <p:nvPr/>
        </p:nvSpPr>
        <p:spPr>
          <a:xfrm>
            <a:off x="3977640" y="1645920"/>
            <a:ext cx="868680" cy="384048"/>
          </a:xfrm>
          <a:prstGeom prst="rect">
            <a:avLst/>
          </a:prstGeom>
          <a:noFill/>
          <a:ln/>
        </p:spPr>
        <p:txBody>
          <a:bodyPr wrap="square" lIns="0" tIns="0" rIns="0" bIns="0" rtlCol="0" anchor="ctr"/>
          <a:lstStyle/>
          <a:p>
            <a:pPr algn="ctr" indent="0" marL="0">
              <a:buNone/>
            </a:pPr>
            <a:r>
              <a:rPr lang="en-US" sz="1100" b="1" dirty="0">
                <a:solidFill>
                  <a:schemeClr val="bg1"/>
                </a:solidFill>
              </a:rPr>
              <a:t>C4 Analyze</a:t>
            </a:r>
            <a:endParaRPr lang="en-US" sz="1100" dirty="0"/>
          </a:p>
        </p:txBody>
      </p:sp>
      <p:sp>
        <p:nvSpPr>
          <p:cNvPr id="8" name="Text 6"/>
          <p:cNvSpPr txBox="1"/>
          <p:nvPr/>
        </p:nvSpPr>
        <p:spPr>
          <a:xfrm>
            <a:off x="685800" y="2606040"/>
            <a:ext cx="3246120" cy="868680"/>
          </a:xfrm>
          <a:prstGeom prst="rect">
            <a:avLst/>
          </a:prstGeom>
          <a:noFill/>
          <a:ln/>
        </p:spPr>
        <p:txBody>
          <a:bodyPr wrap="square" lIns="0" tIns="0" rIns="0" bIns="0" rtlCol="0" anchor="t"/>
          <a:lstStyle/>
          <a:p>
            <a:pPr indent="0" marL="0">
              <a:buNone/>
            </a:pPr>
            <a:r>
              <a:rPr lang="en-US" sz="1400" b="1" dirty="0">
                <a:solidFill>
                  <a:schemeClr val="tx2"/>
                </a:solidFill>
              </a:rPr>
              <a:t>Only exam question tagged to it  </a:t>
            </a:r>
            <a:endParaRPr lang="en-US" sz="1400" dirty="0"/>
          </a:p>
          <a:p>
            <a:pPr indent="0" marL="0">
              <a:buNone/>
            </a:pPr>
            <a:r>
              <a:rPr lang="en-US" sz="1400" i="1" dirty="0">
                <a:solidFill>
                  <a:schemeClr val="tx1"/>
                </a:solidFill>
              </a:rPr>
              <a:t>“List the steps of the bottom-up troubleshooting approach.” (5 marks)</a:t>
            </a:r>
            <a:endParaRPr lang="en-US" sz="1400" dirty="0"/>
          </a:p>
        </p:txBody>
      </p:sp>
      <p:sp>
        <p:nvSpPr>
          <p:cNvPr id="9" name="Question level chip"/>
          <p:cNvSpPr/>
          <p:nvPr/>
        </p:nvSpPr>
        <p:spPr>
          <a:xfrm>
            <a:off x="3977640" y="2651760"/>
            <a:ext cx="868680" cy="384048"/>
          </a:xfrm>
          <a:prstGeom prst="roundRect">
            <a:avLst>
              <a:gd name="adj" fmla="val 14286"/>
            </a:avLst>
          </a:prstGeom>
          <a:solidFill>
            <a:schemeClr val="accent3"/>
          </a:solidFill>
          <a:ln w="12700">
            <a:solidFill>
              <a:schemeClr val="accent3"/>
            </a:solidFill>
            <a:prstDash val="solid"/>
          </a:ln>
        </p:spPr>
      </p:sp>
      <p:sp>
        <p:nvSpPr>
          <p:cNvPr id="10" name="Text 8"/>
          <p:cNvSpPr txBox="1"/>
          <p:nvPr/>
        </p:nvSpPr>
        <p:spPr>
          <a:xfrm>
            <a:off x="3977640" y="2651760"/>
            <a:ext cx="868680" cy="384048"/>
          </a:xfrm>
          <a:prstGeom prst="rect">
            <a:avLst/>
          </a:prstGeom>
          <a:noFill/>
          <a:ln/>
        </p:spPr>
        <p:txBody>
          <a:bodyPr wrap="square" lIns="0" tIns="0" rIns="0" bIns="0" rtlCol="0" anchor="ctr"/>
          <a:lstStyle/>
          <a:p>
            <a:pPr algn="ctr" indent="0" marL="0">
              <a:buNone/>
            </a:pPr>
            <a:r>
              <a:rPr lang="en-US" sz="1100" b="1" dirty="0">
                <a:solidFill>
                  <a:schemeClr val="bg1"/>
                </a:solidFill>
              </a:rPr>
              <a:t>C1 Recall</a:t>
            </a:r>
            <a:endParaRPr lang="en-US" sz="1100" dirty="0"/>
          </a:p>
        </p:txBody>
      </p:sp>
      <p:sp>
        <p:nvSpPr>
          <p:cNvPr id="11" name="Text 9"/>
          <p:cNvSpPr txBox="1"/>
          <p:nvPr/>
        </p:nvSpPr>
        <p:spPr>
          <a:xfrm>
            <a:off x="685800" y="3611880"/>
            <a:ext cx="1554480" cy="731520"/>
          </a:xfrm>
          <a:prstGeom prst="rect">
            <a:avLst/>
          </a:prstGeom>
          <a:noFill/>
          <a:ln/>
        </p:spPr>
        <p:txBody>
          <a:bodyPr wrap="square" lIns="0" tIns="0" rIns="0" bIns="0" rtlCol="0" anchor="ctr"/>
          <a:lstStyle/>
          <a:p>
            <a:pPr indent="0" marL="0">
              <a:buNone/>
            </a:pPr>
            <a:r>
              <a:rPr lang="en-US" sz="4000" b="1" dirty="0">
                <a:solidFill>
                  <a:schemeClr val="accent3"/>
                </a:solidFill>
                <a:latin typeface="Cambria" pitchFamily="34" charset="0"/>
                <a:ea typeface="Cambria" pitchFamily="34" charset="-122"/>
                <a:cs typeface="Cambria" pitchFamily="34" charset="-120"/>
              </a:rPr>
              <a:t>100%</a:t>
            </a:r>
            <a:endParaRPr lang="en-US" sz="4000" dirty="0"/>
          </a:p>
        </p:txBody>
      </p:sp>
      <p:sp>
        <p:nvSpPr>
          <p:cNvPr id="12" name="Text 10"/>
          <p:cNvSpPr txBox="1"/>
          <p:nvPr/>
        </p:nvSpPr>
        <p:spPr>
          <a:xfrm>
            <a:off x="2240280" y="3611880"/>
            <a:ext cx="2606040" cy="731520"/>
          </a:xfrm>
          <a:prstGeom prst="rect">
            <a:avLst/>
          </a:prstGeom>
          <a:noFill/>
          <a:ln/>
        </p:spPr>
        <p:txBody>
          <a:bodyPr wrap="square" lIns="0" tIns="0" rIns="0" bIns="0" rtlCol="0" anchor="ctr"/>
          <a:lstStyle/>
          <a:p>
            <a:pPr indent="0" marL="0">
              <a:buNone/>
            </a:pPr>
            <a:r>
              <a:rPr lang="en-US" sz="1300" dirty="0">
                <a:solidFill>
                  <a:schemeClr val="tx1"/>
                </a:solidFill>
              </a:rPr>
              <a:t>of students “attain” CLO-5 on the synthetic marks sheet - a potential assessment-validity concern for faculty to check.</a:t>
            </a:r>
            <a:endParaRPr lang="en-US" sz="1300" dirty="0"/>
          </a:p>
        </p:txBody>
      </p:sp>
      <p:sp>
        <p:nvSpPr>
          <p:cNvPr id="13" name="Context 1 circle"/>
          <p:cNvSpPr/>
          <p:nvPr/>
        </p:nvSpPr>
        <p:spPr>
          <a:xfrm>
            <a:off x="5349240" y="1188720"/>
            <a:ext cx="502920" cy="502920"/>
          </a:xfrm>
          <a:prstGeom prst="ellipse">
            <a:avLst/>
          </a:prstGeom>
          <a:solidFill>
            <a:schemeClr val="accent1"/>
          </a:solidFill>
          <a:ln w="12700">
            <a:solidFill>
              <a:schemeClr val="accent1"/>
            </a:solidFill>
            <a:prstDash val="solid"/>
          </a:ln>
        </p:spPr>
      </p:sp>
      <p:pic>
        <p:nvPicPr>
          <p:cNvPr id="14" name="Context 1 icon" descr="preencoded.png">    </p:cNvPr>
          <p:cNvPicPr>
            <a:picLocks noChangeAspect="1"/>
          </p:cNvPicPr>
          <p:nvPr/>
        </p:nvPicPr>
        <p:blipFill>
          <a:blip r:embed="rId1"/>
          <a:stretch>
            <a:fillRect/>
          </a:stretch>
        </p:blipFill>
        <p:spPr>
          <a:xfrm>
            <a:off x="5479999" y="1319479"/>
            <a:ext cx="241402" cy="241402"/>
          </a:xfrm>
          <a:prstGeom prst="rect">
            <a:avLst/>
          </a:prstGeom>
        </p:spPr>
      </p:pic>
      <p:sp>
        <p:nvSpPr>
          <p:cNvPr id="15" name="Text 12"/>
          <p:cNvSpPr txBox="1"/>
          <p:nvPr/>
        </p:nvSpPr>
        <p:spPr>
          <a:xfrm>
            <a:off x="5989320" y="1143000"/>
            <a:ext cx="2743200" cy="292608"/>
          </a:xfrm>
          <a:prstGeom prst="rect">
            <a:avLst/>
          </a:prstGeom>
          <a:noFill/>
          <a:ln/>
        </p:spPr>
        <p:txBody>
          <a:bodyPr wrap="square" lIns="0" tIns="0" rIns="0" bIns="0" rtlCol="0" anchor="ctr"/>
          <a:lstStyle/>
          <a:p>
            <a:pPr indent="0" marL="0">
              <a:buNone/>
            </a:pPr>
            <a:r>
              <a:rPr lang="en-US" sz="1400" b="1" dirty="0">
                <a:solidFill>
                  <a:schemeClr val="tx2"/>
                </a:solidFill>
              </a:rPr>
              <a:t>OBE course files, checked by hand</a:t>
            </a:r>
            <a:endParaRPr lang="en-US" sz="1400" dirty="0"/>
          </a:p>
        </p:txBody>
      </p:sp>
      <p:sp>
        <p:nvSpPr>
          <p:cNvPr id="16" name="Text 13"/>
          <p:cNvSpPr txBox="1"/>
          <p:nvPr/>
        </p:nvSpPr>
        <p:spPr>
          <a:xfrm>
            <a:off x="5989320" y="1444752"/>
            <a:ext cx="2743200" cy="731520"/>
          </a:xfrm>
          <a:prstGeom prst="rect">
            <a:avLst/>
          </a:prstGeom>
          <a:noFill/>
          <a:ln/>
        </p:spPr>
        <p:txBody>
          <a:bodyPr wrap="square" lIns="0" tIns="0" rIns="0" bIns="0" rtlCol="0" anchor="t"/>
          <a:lstStyle/>
          <a:p>
            <a:pPr indent="0" marL="0">
              <a:buNone/>
            </a:pPr>
            <a:r>
              <a:rPr lang="en-US" sz="1200" dirty="0">
                <a:solidFill>
                  <a:schemeClr val="tx1"/>
                </a:solidFill>
              </a:rPr>
              <a:t>Every CLO carries a level (C1-C6) and maps to a PLO; faculty must show assessments measure it.</a:t>
            </a:r>
            <a:endParaRPr lang="en-US" sz="1200" dirty="0"/>
          </a:p>
        </p:txBody>
      </p:sp>
      <p:sp>
        <p:nvSpPr>
          <p:cNvPr id="17" name="Context 2 circle"/>
          <p:cNvSpPr/>
          <p:nvPr/>
        </p:nvSpPr>
        <p:spPr>
          <a:xfrm>
            <a:off x="5349240" y="2350008"/>
            <a:ext cx="502920" cy="502920"/>
          </a:xfrm>
          <a:prstGeom prst="ellipse">
            <a:avLst/>
          </a:prstGeom>
          <a:solidFill>
            <a:schemeClr val="accent2"/>
          </a:solidFill>
          <a:ln w="12700">
            <a:solidFill>
              <a:schemeClr val="accent2"/>
            </a:solidFill>
            <a:prstDash val="solid"/>
          </a:ln>
        </p:spPr>
      </p:sp>
      <p:pic>
        <p:nvPicPr>
          <p:cNvPr id="18" name="Context 2 icon" descr="preencoded.png">    </p:cNvPr>
          <p:cNvPicPr>
            <a:picLocks noChangeAspect="1"/>
          </p:cNvPicPr>
          <p:nvPr/>
        </p:nvPicPr>
        <p:blipFill>
          <a:blip r:embed="rId2"/>
          <a:stretch>
            <a:fillRect/>
          </a:stretch>
        </p:blipFill>
        <p:spPr>
          <a:xfrm>
            <a:off x="5479999" y="2480767"/>
            <a:ext cx="241402" cy="241402"/>
          </a:xfrm>
          <a:prstGeom prst="rect">
            <a:avLst/>
          </a:prstGeom>
        </p:spPr>
      </p:pic>
      <p:sp>
        <p:nvSpPr>
          <p:cNvPr id="19" name="Text 15"/>
          <p:cNvSpPr txBox="1"/>
          <p:nvPr/>
        </p:nvSpPr>
        <p:spPr>
          <a:xfrm>
            <a:off x="5989320" y="2304288"/>
            <a:ext cx="2743200" cy="292608"/>
          </a:xfrm>
          <a:prstGeom prst="rect">
            <a:avLst/>
          </a:prstGeom>
          <a:noFill/>
          <a:ln/>
        </p:spPr>
        <p:txBody>
          <a:bodyPr wrap="square" lIns="0" tIns="0" rIns="0" bIns="0" rtlCol="0" anchor="ctr"/>
          <a:lstStyle/>
          <a:p>
            <a:pPr indent="0" marL="0">
              <a:buNone/>
            </a:pPr>
            <a:r>
              <a:rPr lang="en-US" sz="1400" b="1" dirty="0">
                <a:solidFill>
                  <a:schemeClr val="tx2"/>
                </a:solidFill>
              </a:rPr>
              <a:t>Employers ask for performance</a:t>
            </a:r>
            <a:endParaRPr lang="en-US" sz="1400" dirty="0"/>
          </a:p>
        </p:txBody>
      </p:sp>
      <p:sp>
        <p:nvSpPr>
          <p:cNvPr id="20" name="Text 16"/>
          <p:cNvSpPr txBox="1"/>
          <p:nvPr/>
        </p:nvSpPr>
        <p:spPr>
          <a:xfrm>
            <a:off x="5989320" y="2606040"/>
            <a:ext cx="2743200" cy="731520"/>
          </a:xfrm>
          <a:prstGeom prst="rect">
            <a:avLst/>
          </a:prstGeom>
          <a:noFill/>
          <a:ln/>
        </p:spPr>
        <p:txBody>
          <a:bodyPr wrap="square" lIns="0" tIns="0" rIns="0" bIns="0" rtlCol="0" anchor="t"/>
          <a:lstStyle/>
          <a:p>
            <a:pPr indent="0" marL="0">
              <a:buNone/>
            </a:pPr>
            <a:r>
              <a:rPr lang="en-US" sz="1200" dirty="0">
                <a:solidFill>
                  <a:schemeClr val="tx1"/>
                </a:solidFill>
              </a:rPr>
              <a:t>3 of the 4 public Pakistani network postings we sourced explicitly ask candidates to troubleshoot.</a:t>
            </a:r>
            <a:endParaRPr lang="en-US" sz="1200" dirty="0"/>
          </a:p>
        </p:txBody>
      </p:sp>
      <p:sp>
        <p:nvSpPr>
          <p:cNvPr id="21" name="Context 3 circle"/>
          <p:cNvSpPr/>
          <p:nvPr/>
        </p:nvSpPr>
        <p:spPr>
          <a:xfrm>
            <a:off x="5349240" y="3511296"/>
            <a:ext cx="502920" cy="502920"/>
          </a:xfrm>
          <a:prstGeom prst="ellipse">
            <a:avLst/>
          </a:prstGeom>
          <a:solidFill>
            <a:schemeClr val="tx2"/>
          </a:solidFill>
          <a:ln w="12700">
            <a:solidFill>
              <a:schemeClr val="tx2"/>
            </a:solidFill>
            <a:prstDash val="solid"/>
          </a:ln>
        </p:spPr>
      </p:sp>
      <p:pic>
        <p:nvPicPr>
          <p:cNvPr id="22" name="Context 3 icon" descr="preencoded.png">    </p:cNvPr>
          <p:cNvPicPr>
            <a:picLocks noChangeAspect="1"/>
          </p:cNvPicPr>
          <p:nvPr/>
        </p:nvPicPr>
        <p:blipFill>
          <a:blip r:embed="rId3"/>
          <a:stretch>
            <a:fillRect/>
          </a:stretch>
        </p:blipFill>
        <p:spPr>
          <a:xfrm>
            <a:off x="5479999" y="3642055"/>
            <a:ext cx="241402" cy="241402"/>
          </a:xfrm>
          <a:prstGeom prst="rect">
            <a:avLst/>
          </a:prstGeom>
        </p:spPr>
      </p:pic>
      <p:sp>
        <p:nvSpPr>
          <p:cNvPr id="23" name="Text 18"/>
          <p:cNvSpPr txBox="1"/>
          <p:nvPr/>
        </p:nvSpPr>
        <p:spPr>
          <a:xfrm>
            <a:off x="5989320" y="3465576"/>
            <a:ext cx="2743200" cy="292608"/>
          </a:xfrm>
          <a:prstGeom prst="rect">
            <a:avLst/>
          </a:prstGeom>
          <a:noFill/>
          <a:ln/>
        </p:spPr>
        <p:txBody>
          <a:bodyPr wrap="square" lIns="0" tIns="0" rIns="0" bIns="0" rtlCol="0" anchor="ctr"/>
          <a:lstStyle/>
          <a:p>
            <a:pPr indent="0" marL="0">
              <a:buNone/>
            </a:pPr>
            <a:r>
              <a:rPr lang="en-US" sz="1400" b="1" dirty="0">
                <a:solidFill>
                  <a:schemeClr val="tx2"/>
                </a:solidFill>
              </a:rPr>
              <a:t>Policy is moving the same way</a:t>
            </a:r>
            <a:endParaRPr lang="en-US" sz="1400" dirty="0"/>
          </a:p>
        </p:txBody>
      </p:sp>
      <p:sp>
        <p:nvSpPr>
          <p:cNvPr id="24" name="Text 19"/>
          <p:cNvSpPr txBox="1"/>
          <p:nvPr/>
        </p:nvSpPr>
        <p:spPr>
          <a:xfrm>
            <a:off x="5989320" y="3767328"/>
            <a:ext cx="2743200" cy="731520"/>
          </a:xfrm>
          <a:prstGeom prst="rect">
            <a:avLst/>
          </a:prstGeom>
          <a:noFill/>
          <a:ln/>
        </p:spPr>
        <p:txBody>
          <a:bodyPr wrap="square" lIns="0" tIns="0" rIns="0" bIns="0" rtlCol="0" anchor="t"/>
          <a:lstStyle/>
          <a:p>
            <a:pPr indent="0" marL="0">
              <a:buNone/>
            </a:pPr>
            <a:r>
              <a:rPr lang="en-US" sz="1200" dirty="0">
                <a:solidFill>
                  <a:schemeClr val="tx1"/>
                </a:solidFill>
              </a:rPr>
              <a:t>HEC (2025): every undergraduate programme needs supervised internships and industry certifications.</a:t>
            </a:r>
            <a:endParaRPr lang="en-US" sz="12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SkillLeak reads a course file like a reviewer</a:t>
            </a:r>
            <a:endParaRPr lang="en-US" sz="2800" dirty="0"/>
          </a:p>
        </p:txBody>
      </p:sp>
      <p:sp>
        <p:nvSpPr>
          <p:cNvPr id="3" name="Step card 1"/>
          <p:cNvSpPr/>
          <p:nvPr/>
        </p:nvSpPr>
        <p:spPr>
          <a:xfrm>
            <a:off x="457200" y="1234440"/>
            <a:ext cx="1920240" cy="2743200"/>
          </a:xfrm>
          <a:prstGeom prst="roundRect">
            <a:avLst>
              <a:gd name="adj" fmla="val 381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Step 1 circle"/>
          <p:cNvSpPr/>
          <p:nvPr/>
        </p:nvSpPr>
        <p:spPr>
          <a:xfrm>
            <a:off x="640080" y="1417320"/>
            <a:ext cx="594360" cy="594360"/>
          </a:xfrm>
          <a:prstGeom prst="ellipse">
            <a:avLst/>
          </a:prstGeom>
          <a:solidFill>
            <a:schemeClr val="accent5"/>
          </a:solidFill>
          <a:ln w="12700">
            <a:solidFill>
              <a:schemeClr val="accent5"/>
            </a:solidFill>
            <a:prstDash val="solid"/>
          </a:ln>
        </p:spPr>
      </p:sp>
      <p:pic>
        <p:nvPicPr>
          <p:cNvPr id="5" name="Step 1 icon" descr="preencoded.png">    </p:cNvPr>
          <p:cNvPicPr>
            <a:picLocks noChangeAspect="1"/>
          </p:cNvPicPr>
          <p:nvPr/>
        </p:nvPicPr>
        <p:blipFill>
          <a:blip r:embed="rId1"/>
          <a:stretch>
            <a:fillRect/>
          </a:stretch>
        </p:blipFill>
        <p:spPr>
          <a:xfrm>
            <a:off x="794614" y="1571854"/>
            <a:ext cx="285293" cy="285293"/>
          </a:xfrm>
          <a:prstGeom prst="rect">
            <a:avLst/>
          </a:prstGeom>
        </p:spPr>
      </p:pic>
      <p:sp>
        <p:nvSpPr>
          <p:cNvPr id="6" name="Text 3"/>
          <p:cNvSpPr txBox="1"/>
          <p:nvPr/>
        </p:nvSpPr>
        <p:spPr>
          <a:xfrm>
            <a:off x="640080" y="2148840"/>
            <a:ext cx="1600200" cy="365760"/>
          </a:xfrm>
          <a:prstGeom prst="rect">
            <a:avLst/>
          </a:prstGeom>
          <a:noFill/>
          <a:ln/>
        </p:spPr>
        <p:txBody>
          <a:bodyPr wrap="square" lIns="0" tIns="0" rIns="0" bIns="0" rtlCol="0" anchor="ctr"/>
          <a:lstStyle/>
          <a:p>
            <a:pPr indent="0" marL="0">
              <a:buNone/>
            </a:pPr>
            <a:r>
              <a:rPr lang="en-US" sz="1500" b="1" dirty="0">
                <a:solidFill>
                  <a:schemeClr val="tx2"/>
                </a:solidFill>
              </a:rPr>
              <a:t>1  Upload</a:t>
            </a:r>
            <a:endParaRPr lang="en-US" sz="1500" dirty="0"/>
          </a:p>
        </p:txBody>
      </p:sp>
      <p:sp>
        <p:nvSpPr>
          <p:cNvPr id="7" name="Text 4"/>
          <p:cNvSpPr txBox="1"/>
          <p:nvPr/>
        </p:nvSpPr>
        <p:spPr>
          <a:xfrm>
            <a:off x="640080" y="2560320"/>
            <a:ext cx="1600200" cy="1325880"/>
          </a:xfrm>
          <a:prstGeom prst="rect">
            <a:avLst/>
          </a:prstGeom>
          <a:noFill/>
          <a:ln/>
        </p:spPr>
        <p:txBody>
          <a:bodyPr wrap="square" lIns="0" tIns="0" rIns="0" bIns="0" rtlCol="0" anchor="t"/>
          <a:lstStyle/>
          <a:p>
            <a:pPr indent="0" marL="0">
              <a:buNone/>
            </a:pPr>
            <a:r>
              <a:rPr lang="en-US" sz="1200" dirty="0">
                <a:solidFill>
                  <a:schemeClr val="tx1"/>
                </a:solidFill>
              </a:rPr>
              <a:t>Course outline + CLOs, lab manual, exam papers, marks sheet, job postings</a:t>
            </a:r>
            <a:endParaRPr lang="en-US" sz="1200" dirty="0"/>
          </a:p>
        </p:txBody>
      </p:sp>
      <p:sp>
        <p:nvSpPr>
          <p:cNvPr id="8" name="Step card 2"/>
          <p:cNvSpPr/>
          <p:nvPr/>
        </p:nvSpPr>
        <p:spPr>
          <a:xfrm>
            <a:off x="2560320" y="1234440"/>
            <a:ext cx="1920240" cy="2743200"/>
          </a:xfrm>
          <a:prstGeom prst="roundRect">
            <a:avLst>
              <a:gd name="adj" fmla="val 381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Step 2 circle"/>
          <p:cNvSpPr/>
          <p:nvPr/>
        </p:nvSpPr>
        <p:spPr>
          <a:xfrm>
            <a:off x="2743200" y="1417320"/>
            <a:ext cx="594360" cy="594360"/>
          </a:xfrm>
          <a:prstGeom prst="ellipse">
            <a:avLst/>
          </a:prstGeom>
          <a:solidFill>
            <a:schemeClr val="accent1"/>
          </a:solidFill>
          <a:ln w="12700">
            <a:solidFill>
              <a:schemeClr val="accent1"/>
            </a:solidFill>
            <a:prstDash val="solid"/>
          </a:ln>
        </p:spPr>
      </p:sp>
      <p:pic>
        <p:nvPicPr>
          <p:cNvPr id="10" name="Step 2 icon" descr="preencoded.png">    </p:cNvPr>
          <p:cNvPicPr>
            <a:picLocks noChangeAspect="1"/>
          </p:cNvPicPr>
          <p:nvPr/>
        </p:nvPicPr>
        <p:blipFill>
          <a:blip r:embed="rId2"/>
          <a:stretch>
            <a:fillRect/>
          </a:stretch>
        </p:blipFill>
        <p:spPr>
          <a:xfrm>
            <a:off x="2897734" y="1571854"/>
            <a:ext cx="285293" cy="285293"/>
          </a:xfrm>
          <a:prstGeom prst="rect">
            <a:avLst/>
          </a:prstGeom>
        </p:spPr>
      </p:pic>
      <p:sp>
        <p:nvSpPr>
          <p:cNvPr id="11" name="Text 7"/>
          <p:cNvSpPr txBox="1"/>
          <p:nvPr/>
        </p:nvSpPr>
        <p:spPr>
          <a:xfrm>
            <a:off x="2743200" y="2148840"/>
            <a:ext cx="1600200" cy="365760"/>
          </a:xfrm>
          <a:prstGeom prst="rect">
            <a:avLst/>
          </a:prstGeom>
          <a:noFill/>
          <a:ln/>
        </p:spPr>
        <p:txBody>
          <a:bodyPr wrap="square" lIns="0" tIns="0" rIns="0" bIns="0" rtlCol="0" anchor="ctr"/>
          <a:lstStyle/>
          <a:p>
            <a:pPr indent="0" marL="0">
              <a:buNone/>
            </a:pPr>
            <a:r>
              <a:rPr lang="en-US" sz="1500" b="1" dirty="0">
                <a:solidFill>
                  <a:schemeClr val="tx2"/>
                </a:solidFill>
              </a:rPr>
              <a:t>2  AI reads &amp; rates</a:t>
            </a:r>
            <a:endParaRPr lang="en-US" sz="1500" dirty="0"/>
          </a:p>
        </p:txBody>
      </p:sp>
      <p:sp>
        <p:nvSpPr>
          <p:cNvPr id="12" name="Text 8"/>
          <p:cNvSpPr txBox="1"/>
          <p:nvPr/>
        </p:nvSpPr>
        <p:spPr>
          <a:xfrm>
            <a:off x="2743200" y="2560320"/>
            <a:ext cx="1600200" cy="1325880"/>
          </a:xfrm>
          <a:prstGeom prst="rect">
            <a:avLst/>
          </a:prstGeom>
          <a:noFill/>
          <a:ln/>
        </p:spPr>
        <p:txBody>
          <a:bodyPr wrap="square" lIns="0" tIns="0" rIns="0" bIns="0" rtlCol="0" anchor="t"/>
          <a:lstStyle/>
          <a:p>
            <a:pPr indent="0" marL="0">
              <a:buNone/>
            </a:pPr>
            <a:r>
              <a:rPr lang="en-US" sz="1200" dirty="0">
                <a:solidFill>
                  <a:schemeClr val="tx1"/>
                </a:solidFill>
              </a:rPr>
              <a:t>Extracts CLOs and every question, rates what students must do (Bloom C1-C6), maps questions to CLOs and skills</a:t>
            </a:r>
            <a:endParaRPr lang="en-US" sz="1200" dirty="0"/>
          </a:p>
        </p:txBody>
      </p:sp>
      <p:sp>
        <p:nvSpPr>
          <p:cNvPr id="13" name="Step card 3"/>
          <p:cNvSpPr/>
          <p:nvPr/>
        </p:nvSpPr>
        <p:spPr>
          <a:xfrm>
            <a:off x="4663440" y="1234440"/>
            <a:ext cx="1920240" cy="2743200"/>
          </a:xfrm>
          <a:prstGeom prst="roundRect">
            <a:avLst>
              <a:gd name="adj" fmla="val 381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Step 3 circle"/>
          <p:cNvSpPr/>
          <p:nvPr/>
        </p:nvSpPr>
        <p:spPr>
          <a:xfrm>
            <a:off x="4846320" y="1417320"/>
            <a:ext cx="594360" cy="594360"/>
          </a:xfrm>
          <a:prstGeom prst="ellipse">
            <a:avLst/>
          </a:prstGeom>
          <a:solidFill>
            <a:schemeClr val="tx2"/>
          </a:solidFill>
          <a:ln w="12700">
            <a:solidFill>
              <a:schemeClr val="tx2"/>
            </a:solidFill>
            <a:prstDash val="solid"/>
          </a:ln>
        </p:spPr>
      </p:sp>
      <p:pic>
        <p:nvPicPr>
          <p:cNvPr id="15" name="Step 3 icon" descr="preencoded.png">    </p:cNvPr>
          <p:cNvPicPr>
            <a:picLocks noChangeAspect="1"/>
          </p:cNvPicPr>
          <p:nvPr/>
        </p:nvPicPr>
        <p:blipFill>
          <a:blip r:embed="rId3"/>
          <a:stretch>
            <a:fillRect/>
          </a:stretch>
        </p:blipFill>
        <p:spPr>
          <a:xfrm>
            <a:off x="5000854" y="1571854"/>
            <a:ext cx="285293" cy="285293"/>
          </a:xfrm>
          <a:prstGeom prst="rect">
            <a:avLst/>
          </a:prstGeom>
        </p:spPr>
      </p:pic>
      <p:sp>
        <p:nvSpPr>
          <p:cNvPr id="16" name="Text 11"/>
          <p:cNvSpPr txBox="1"/>
          <p:nvPr/>
        </p:nvSpPr>
        <p:spPr>
          <a:xfrm>
            <a:off x="4846320" y="2148840"/>
            <a:ext cx="1600200" cy="365760"/>
          </a:xfrm>
          <a:prstGeom prst="rect">
            <a:avLst/>
          </a:prstGeom>
          <a:noFill/>
          <a:ln/>
        </p:spPr>
        <p:txBody>
          <a:bodyPr wrap="square" lIns="0" tIns="0" rIns="0" bIns="0" rtlCol="0" anchor="ctr"/>
          <a:lstStyle/>
          <a:p>
            <a:pPr indent="0" marL="0">
              <a:buNone/>
            </a:pPr>
            <a:r>
              <a:rPr lang="en-US" sz="1500" b="1" dirty="0">
                <a:solidFill>
                  <a:schemeClr val="tx2"/>
                </a:solidFill>
              </a:rPr>
              <a:t>3  Code verifies</a:t>
            </a:r>
            <a:endParaRPr lang="en-US" sz="1500" dirty="0"/>
          </a:p>
        </p:txBody>
      </p:sp>
      <p:sp>
        <p:nvSpPr>
          <p:cNvPr id="17" name="Text 12"/>
          <p:cNvSpPr txBox="1"/>
          <p:nvPr/>
        </p:nvSpPr>
        <p:spPr>
          <a:xfrm>
            <a:off x="4846320" y="2560320"/>
            <a:ext cx="1600200" cy="1325880"/>
          </a:xfrm>
          <a:prstGeom prst="rect">
            <a:avLst/>
          </a:prstGeom>
          <a:noFill/>
          <a:ln/>
        </p:spPr>
        <p:txBody>
          <a:bodyPr wrap="square" lIns="0" tIns="0" rIns="0" bIns="0" rtlCol="0" anchor="t"/>
          <a:lstStyle/>
          <a:p>
            <a:pPr indent="0" marL="0">
              <a:buNone/>
            </a:pPr>
            <a:r>
              <a:rPr lang="en-US" sz="1200" dirty="0">
                <a:solidFill>
                  <a:schemeClr val="tx1"/>
                </a:solidFill>
              </a:rPr>
              <a:t>Every quote checked against the source; a second blind AI rating flags disagreement; findings from fixed, published rules</a:t>
            </a:r>
            <a:endParaRPr lang="en-US" sz="1200" dirty="0"/>
          </a:p>
        </p:txBody>
      </p:sp>
      <p:sp>
        <p:nvSpPr>
          <p:cNvPr id="18" name="Step card 4"/>
          <p:cNvSpPr/>
          <p:nvPr/>
        </p:nvSpPr>
        <p:spPr>
          <a:xfrm>
            <a:off x="6766560" y="1234440"/>
            <a:ext cx="1920240" cy="2743200"/>
          </a:xfrm>
          <a:prstGeom prst="roundRect">
            <a:avLst>
              <a:gd name="adj" fmla="val 381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9" name="Step 4 circle"/>
          <p:cNvSpPr/>
          <p:nvPr/>
        </p:nvSpPr>
        <p:spPr>
          <a:xfrm>
            <a:off x="6949440" y="1417320"/>
            <a:ext cx="594360" cy="594360"/>
          </a:xfrm>
          <a:prstGeom prst="ellipse">
            <a:avLst/>
          </a:prstGeom>
          <a:solidFill>
            <a:schemeClr val="accent2"/>
          </a:solidFill>
          <a:ln w="12700">
            <a:solidFill>
              <a:schemeClr val="accent2"/>
            </a:solidFill>
            <a:prstDash val="solid"/>
          </a:ln>
        </p:spPr>
      </p:sp>
      <p:pic>
        <p:nvPicPr>
          <p:cNvPr id="20" name="Step 4 icon" descr="preencoded.png">    </p:cNvPr>
          <p:cNvPicPr>
            <a:picLocks noChangeAspect="1"/>
          </p:cNvPicPr>
          <p:nvPr/>
        </p:nvPicPr>
        <p:blipFill>
          <a:blip r:embed="rId4"/>
          <a:stretch>
            <a:fillRect/>
          </a:stretch>
        </p:blipFill>
        <p:spPr>
          <a:xfrm>
            <a:off x="7103974" y="1571854"/>
            <a:ext cx="285293" cy="285293"/>
          </a:xfrm>
          <a:prstGeom prst="rect">
            <a:avLst/>
          </a:prstGeom>
        </p:spPr>
      </p:pic>
      <p:sp>
        <p:nvSpPr>
          <p:cNvPr id="21" name="Text 15"/>
          <p:cNvSpPr txBox="1"/>
          <p:nvPr/>
        </p:nvSpPr>
        <p:spPr>
          <a:xfrm>
            <a:off x="6949440" y="2148840"/>
            <a:ext cx="1600200" cy="365760"/>
          </a:xfrm>
          <a:prstGeom prst="rect">
            <a:avLst/>
          </a:prstGeom>
          <a:noFill/>
          <a:ln/>
        </p:spPr>
        <p:txBody>
          <a:bodyPr wrap="square" lIns="0" tIns="0" rIns="0" bIns="0" rtlCol="0" anchor="ctr"/>
          <a:lstStyle/>
          <a:p>
            <a:pPr indent="0" marL="0">
              <a:buNone/>
            </a:pPr>
            <a:r>
              <a:rPr lang="en-US" sz="1500" b="1" dirty="0">
                <a:solidFill>
                  <a:schemeClr val="tx2"/>
                </a:solidFill>
              </a:rPr>
              <a:t>4  Faculty act</a:t>
            </a:r>
            <a:endParaRPr lang="en-US" sz="1500" dirty="0"/>
          </a:p>
        </p:txBody>
      </p:sp>
      <p:sp>
        <p:nvSpPr>
          <p:cNvPr id="22" name="Text 16"/>
          <p:cNvSpPr txBox="1"/>
          <p:nvPr/>
        </p:nvSpPr>
        <p:spPr>
          <a:xfrm>
            <a:off x="6949440" y="2560320"/>
            <a:ext cx="1600200" cy="1325880"/>
          </a:xfrm>
          <a:prstGeom prst="rect">
            <a:avLst/>
          </a:prstGeom>
          <a:noFill/>
          <a:ln/>
        </p:spPr>
        <p:txBody>
          <a:bodyPr wrap="square" lIns="0" tIns="0" rIns="0" bIns="0" rtlCol="0" anchor="t"/>
          <a:lstStyle/>
          <a:p>
            <a:pPr indent="0" marL="0">
              <a:buNone/>
            </a:pPr>
            <a:r>
              <a:rPr lang="en-US" sz="1200" dirty="0">
                <a:solidFill>
                  <a:schemeClr val="tx1"/>
                </a:solidFill>
              </a:rPr>
              <a:t>Correct any rating, generate an aligned question or lab, export an Excel course-file pack</a:t>
            </a:r>
            <a:endParaRPr lang="en-US" sz="1200" dirty="0"/>
          </a:p>
        </p:txBody>
      </p:sp>
      <p:sp>
        <p:nvSpPr>
          <p:cNvPr id="23" name="Text 17"/>
          <p:cNvSpPr txBox="1"/>
          <p:nvPr/>
        </p:nvSpPr>
        <p:spPr>
          <a:xfrm>
            <a:off x="457200" y="4160520"/>
            <a:ext cx="8229600" cy="502920"/>
          </a:xfrm>
          <a:prstGeom prst="rect">
            <a:avLst/>
          </a:prstGeom>
          <a:noFill/>
          <a:ln/>
        </p:spPr>
        <p:txBody>
          <a:bodyPr wrap="square" lIns="0" tIns="0" rIns="0" bIns="0" rtlCol="0" anchor="ctr"/>
          <a:lstStyle/>
          <a:p>
            <a:pPr indent="0" marL="0">
              <a:buNone/>
            </a:pPr>
            <a:r>
              <a:rPr lang="en-US" sz="1300" b="1" dirty="0">
                <a:solidFill>
                  <a:schemeClr val="tx2"/>
                </a:solidFill>
              </a:rPr>
              <a:t>Outputs: </a:t>
            </a:r>
            <a:pPr indent="0" marL="0">
              <a:buNone/>
            </a:pPr>
            <a:r>
              <a:rPr lang="en-US" sz="1300" dirty="0">
                <a:solidFill>
                  <a:schemeClr val="tx1"/>
                </a:solidFill>
              </a:rPr>
              <a:t>CLO alignment findings · aligned-mark share · attainment-validity flags · PLO evidence coverage · industry skill gaps vs real postings · practical lab + rubric · student practice plan</a:t>
            </a:r>
            <a:endParaRPr lang="en-US" sz="13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Two AI ratings, one rule, faculty in charge</a:t>
            </a:r>
            <a:endParaRPr lang="en-US" sz="2800" dirty="0"/>
          </a:p>
        </p:txBody>
      </p:sp>
      <p:sp>
        <p:nvSpPr>
          <p:cNvPr id="3" name="Rater diagram card"/>
          <p:cNvSpPr/>
          <p:nvPr/>
        </p:nvSpPr>
        <p:spPr>
          <a:xfrm>
            <a:off x="457200" y="1188720"/>
            <a:ext cx="4206240" cy="3474720"/>
          </a:xfrm>
          <a:prstGeom prst="roundRect">
            <a:avLst>
              <a:gd name="adj" fmla="val 210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Rater 1 circle"/>
          <p:cNvSpPr/>
          <p:nvPr/>
        </p:nvSpPr>
        <p:spPr>
          <a:xfrm>
            <a:off x="731520" y="1417320"/>
            <a:ext cx="548640" cy="548640"/>
          </a:xfrm>
          <a:prstGeom prst="ellipse">
            <a:avLst/>
          </a:prstGeom>
          <a:solidFill>
            <a:schemeClr val="accent1"/>
          </a:solidFill>
          <a:ln w="12700">
            <a:solidFill>
              <a:schemeClr val="accent1"/>
            </a:solidFill>
            <a:prstDash val="solid"/>
          </a:ln>
        </p:spPr>
      </p:sp>
      <p:pic>
        <p:nvPicPr>
          <p:cNvPr id="5" name="Rater 1 icon" descr="preencoded.png">    </p:cNvPr>
          <p:cNvPicPr>
            <a:picLocks noChangeAspect="1"/>
          </p:cNvPicPr>
          <p:nvPr/>
        </p:nvPicPr>
        <p:blipFill>
          <a:blip r:embed="rId1"/>
          <a:stretch>
            <a:fillRect/>
          </a:stretch>
        </p:blipFill>
        <p:spPr>
          <a:xfrm>
            <a:off x="874166" y="1559966"/>
            <a:ext cx="263347" cy="263347"/>
          </a:xfrm>
          <a:prstGeom prst="rect">
            <a:avLst/>
          </a:prstGeom>
        </p:spPr>
      </p:pic>
      <p:sp>
        <p:nvSpPr>
          <p:cNvPr id="6" name="Text 3"/>
          <p:cNvSpPr txBox="1"/>
          <p:nvPr/>
        </p:nvSpPr>
        <p:spPr>
          <a:xfrm>
            <a:off x="1417320" y="1371600"/>
            <a:ext cx="3108960" cy="640080"/>
          </a:xfrm>
          <a:prstGeom prst="rect">
            <a:avLst/>
          </a:prstGeom>
          <a:noFill/>
          <a:ln/>
        </p:spPr>
        <p:txBody>
          <a:bodyPr wrap="square" lIns="0" tIns="0" rIns="0" bIns="0" rtlCol="0" anchor="ctr"/>
          <a:lstStyle/>
          <a:p>
            <a:pPr indent="0" marL="0">
              <a:buNone/>
            </a:pPr>
            <a:r>
              <a:rPr lang="en-US" sz="1300" b="1" dirty="0">
                <a:solidFill>
                  <a:schemeClr val="tx1"/>
                </a:solidFill>
              </a:rPr>
              <a:t>Rater 1 - in context</a:t>
            </a:r>
            <a:endParaRPr lang="en-US" sz="1300" dirty="0"/>
          </a:p>
          <a:p>
            <a:pPr indent="0" marL="0">
              <a:buNone/>
            </a:pPr>
            <a:r>
              <a:rPr lang="en-US" sz="1300" dirty="0">
                <a:solidFill>
                  <a:schemeClr val="tx1"/>
                </a:solidFill>
              </a:rPr>
              <a:t>reads the CLO and the question</a:t>
            </a:r>
            <a:endParaRPr lang="en-US" sz="1300" dirty="0"/>
          </a:p>
        </p:txBody>
      </p:sp>
      <p:sp>
        <p:nvSpPr>
          <p:cNvPr id="7" name="Rater 2 circle"/>
          <p:cNvSpPr/>
          <p:nvPr/>
        </p:nvSpPr>
        <p:spPr>
          <a:xfrm>
            <a:off x="731520" y="2194560"/>
            <a:ext cx="548640" cy="548640"/>
          </a:xfrm>
          <a:prstGeom prst="ellipse">
            <a:avLst/>
          </a:prstGeom>
          <a:solidFill>
            <a:schemeClr val="tx2"/>
          </a:solidFill>
          <a:ln w="12700">
            <a:solidFill>
              <a:schemeClr val="tx2"/>
            </a:solidFill>
            <a:prstDash val="solid"/>
          </a:ln>
        </p:spPr>
      </p:sp>
      <p:pic>
        <p:nvPicPr>
          <p:cNvPr id="8" name="Rater 2 icon" descr="preencoded.png">    </p:cNvPr>
          <p:cNvPicPr>
            <a:picLocks noChangeAspect="1"/>
          </p:cNvPicPr>
          <p:nvPr/>
        </p:nvPicPr>
        <p:blipFill>
          <a:blip r:embed="rId2"/>
          <a:stretch>
            <a:fillRect/>
          </a:stretch>
        </p:blipFill>
        <p:spPr>
          <a:xfrm>
            <a:off x="874166" y="2337206"/>
            <a:ext cx="263347" cy="263347"/>
          </a:xfrm>
          <a:prstGeom prst="rect">
            <a:avLst/>
          </a:prstGeom>
        </p:spPr>
      </p:pic>
      <p:sp>
        <p:nvSpPr>
          <p:cNvPr id="9" name="Text 5"/>
          <p:cNvSpPr txBox="1"/>
          <p:nvPr/>
        </p:nvSpPr>
        <p:spPr>
          <a:xfrm>
            <a:off x="1417320" y="2148840"/>
            <a:ext cx="3108960" cy="640080"/>
          </a:xfrm>
          <a:prstGeom prst="rect">
            <a:avLst/>
          </a:prstGeom>
          <a:noFill/>
          <a:ln/>
        </p:spPr>
        <p:txBody>
          <a:bodyPr wrap="square" lIns="0" tIns="0" rIns="0" bIns="0" rtlCol="0" anchor="ctr"/>
          <a:lstStyle/>
          <a:p>
            <a:pPr indent="0" marL="0">
              <a:buNone/>
            </a:pPr>
            <a:r>
              <a:rPr lang="en-US" sz="1300" b="1" dirty="0">
                <a:solidFill>
                  <a:schemeClr val="tx1"/>
                </a:solidFill>
              </a:rPr>
              <a:t>Rater 2 - blind</a:t>
            </a:r>
            <a:endParaRPr lang="en-US" sz="1300" dirty="0"/>
          </a:p>
          <a:p>
            <a:pPr indent="0" marL="0">
              <a:buNone/>
            </a:pPr>
            <a:r>
              <a:rPr lang="en-US" sz="1300" dirty="0">
                <a:solidFill>
                  <a:schemeClr val="tx1"/>
                </a:solidFill>
              </a:rPr>
              <a:t>sees only the question text, never the CLO</a:t>
            </a:r>
            <a:endParaRPr lang="en-US" sz="1300" dirty="0"/>
          </a:p>
        </p:txBody>
      </p:sp>
      <p:sp>
        <p:nvSpPr>
          <p:cNvPr id="10" name="Rule box"/>
          <p:cNvSpPr/>
          <p:nvPr/>
        </p:nvSpPr>
        <p:spPr>
          <a:xfrm>
            <a:off x="731520" y="3017520"/>
            <a:ext cx="3703320" cy="1417320"/>
          </a:xfrm>
          <a:prstGeom prst="roundRect">
            <a:avLst>
              <a:gd name="adj" fmla="val 3871"/>
            </a:avLst>
          </a:prstGeom>
          <a:solidFill>
            <a:schemeClr val="bg1"/>
          </a:solidFill>
          <a:ln w="12700">
            <a:solidFill>
              <a:srgbClr val="BFD8D5"/>
            </a:solidFill>
            <a:prstDash val="solid"/>
          </a:ln>
        </p:spPr>
      </p:sp>
      <p:sp>
        <p:nvSpPr>
          <p:cNvPr id="11" name="Text 7"/>
          <p:cNvSpPr txBox="1"/>
          <p:nvPr/>
        </p:nvSpPr>
        <p:spPr>
          <a:xfrm>
            <a:off x="868680" y="3090672"/>
            <a:ext cx="3474720" cy="1280160"/>
          </a:xfrm>
          <a:prstGeom prst="rect">
            <a:avLst/>
          </a:prstGeom>
          <a:noFill/>
          <a:ln/>
        </p:spPr>
        <p:txBody>
          <a:bodyPr wrap="square" lIns="0" tIns="0" rIns="0" bIns="0" rtlCol="0" anchor="ctr"/>
          <a:lstStyle/>
          <a:p>
            <a:pPr indent="0" marL="0">
              <a:spcAft>
                <a:spcPts val="400"/>
              </a:spcAft>
              <a:buNone/>
            </a:pPr>
            <a:r>
              <a:rPr lang="en-US" sz="1200" b="1" dirty="0">
                <a:solidFill>
                  <a:schemeClr val="accent3"/>
                </a:solidFill>
              </a:rPr>
              <a:t>Potential mismatch </a:t>
            </a:r>
            <a:pPr indent="0" marL="0">
              <a:spcAft>
                <a:spcPts val="400"/>
              </a:spcAft>
              <a:buNone/>
            </a:pPr>
            <a:r>
              <a:rPr lang="en-US" sz="1200" dirty="0">
                <a:solidFill>
                  <a:schemeClr val="tx1"/>
                </a:solidFill>
              </a:rPr>
              <a:t>only if BOTH ratings are below the CLO level</a:t>
            </a:r>
            <a:endParaRPr lang="en-US" sz="1200" dirty="0"/>
          </a:p>
          <a:p>
            <a:pPr indent="0" marL="0">
              <a:spcAft>
                <a:spcPts val="400"/>
              </a:spcAft>
              <a:buNone/>
            </a:pPr>
            <a:r>
              <a:rPr lang="en-US" sz="1200" b="1" dirty="0">
                <a:solidFill>
                  <a:schemeClr val="accent2"/>
                </a:solidFill>
              </a:rPr>
              <a:t>Needs review </a:t>
            </a:r>
            <a:pPr indent="0" marL="0">
              <a:spcAft>
                <a:spcPts val="400"/>
              </a:spcAft>
              <a:buNone/>
            </a:pPr>
            <a:r>
              <a:rPr lang="en-US" sz="1200" dirty="0">
                <a:solidFill>
                  <a:schemeClr val="tx1"/>
                </a:solidFill>
              </a:rPr>
              <a:t>if the raters straddle the level</a:t>
            </a:r>
            <a:endParaRPr lang="en-US" sz="1200" dirty="0"/>
          </a:p>
          <a:p>
            <a:pPr indent="0" marL="0">
              <a:spcAft>
                <a:spcPts val="400"/>
              </a:spcAft>
              <a:buNone/>
            </a:pPr>
            <a:r>
              <a:rPr lang="en-US" sz="1200" b="1" dirty="0">
                <a:solidFill>
                  <a:schemeClr val="tx2"/>
                </a:solidFill>
              </a:rPr>
              <a:t>Every quote </a:t>
            </a:r>
            <a:pPr indent="0" marL="0">
              <a:spcAft>
                <a:spcPts val="400"/>
              </a:spcAft>
              <a:buNone/>
            </a:pPr>
            <a:r>
              <a:rPr lang="en-US" sz="1200" dirty="0">
                <a:solidFill>
                  <a:schemeClr val="tx1"/>
                </a:solidFill>
              </a:rPr>
              <a:t>is checked against the source - invented ones are rejected</a:t>
            </a:r>
            <a:endParaRPr lang="en-US" sz="1200" dirty="0"/>
          </a:p>
        </p:txBody>
      </p:sp>
      <p:sp>
        <p:nvSpPr>
          <p:cNvPr id="12" name="Text 8"/>
          <p:cNvSpPr txBox="1"/>
          <p:nvPr/>
        </p:nvSpPr>
        <p:spPr>
          <a:xfrm>
            <a:off x="4983480" y="1188720"/>
            <a:ext cx="3657600" cy="320040"/>
          </a:xfrm>
          <a:prstGeom prst="rect">
            <a:avLst/>
          </a:prstGeom>
          <a:noFill/>
          <a:ln/>
        </p:spPr>
        <p:txBody>
          <a:bodyPr wrap="square" lIns="0" tIns="0" rIns="0" bIns="0" rtlCol="0" anchor="ctr"/>
          <a:lstStyle/>
          <a:p>
            <a:pPr indent="0" marL="0">
              <a:buNone/>
            </a:pPr>
            <a:r>
              <a:rPr lang="en-US" sz="1500" b="1" dirty="0">
                <a:solidFill>
                  <a:schemeClr val="tx2"/>
                </a:solidFill>
              </a:rPr>
              <a:t>Why two ratings?</a:t>
            </a:r>
            <a:endParaRPr lang="en-US" sz="1500" dirty="0"/>
          </a:p>
        </p:txBody>
      </p:sp>
      <p:sp>
        <p:nvSpPr>
          <p:cNvPr id="13" name="Text 9"/>
          <p:cNvSpPr txBox="1"/>
          <p:nvPr/>
        </p:nvSpPr>
        <p:spPr>
          <a:xfrm>
            <a:off x="4983480" y="1645920"/>
            <a:ext cx="1691640" cy="68580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72-73%</a:t>
            </a:r>
            <a:endParaRPr lang="en-US" sz="2800" dirty="0"/>
          </a:p>
        </p:txBody>
      </p:sp>
      <p:sp>
        <p:nvSpPr>
          <p:cNvPr id="14" name="Text 10"/>
          <p:cNvSpPr txBox="1"/>
          <p:nvPr/>
        </p:nvSpPr>
        <p:spPr>
          <a:xfrm>
            <a:off x="6720840" y="1645920"/>
            <a:ext cx="1965960" cy="1051560"/>
          </a:xfrm>
          <a:prstGeom prst="rect">
            <a:avLst/>
          </a:prstGeom>
          <a:noFill/>
          <a:ln/>
        </p:spPr>
        <p:txBody>
          <a:bodyPr wrap="square" lIns="0" tIns="0" rIns="0" bIns="0" rtlCol="0" anchor="t"/>
          <a:lstStyle/>
          <a:p>
            <a:pPr indent="0" marL="0">
              <a:buNone/>
            </a:pPr>
            <a:r>
              <a:rPr lang="en-US" sz="1100" dirty="0">
                <a:solidFill>
                  <a:schemeClr val="tx1"/>
                </a:solidFill>
              </a:rPr>
              <a:t>SEPARATE STUDY: zero-shot LLM accuracy reported on a 600-sentence Bloom set; errors mostly one level off (arXiv:2511.10903)</a:t>
            </a:r>
            <a:endParaRPr lang="en-US" sz="1100" dirty="0"/>
          </a:p>
        </p:txBody>
      </p:sp>
      <p:sp>
        <p:nvSpPr>
          <p:cNvPr id="15" name="Text 11"/>
          <p:cNvSpPr txBox="1"/>
          <p:nvPr/>
        </p:nvSpPr>
        <p:spPr>
          <a:xfrm>
            <a:off x="4983480" y="2834640"/>
            <a:ext cx="1691640" cy="68580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62.7%</a:t>
            </a:r>
            <a:endParaRPr lang="en-US" sz="2800" dirty="0"/>
          </a:p>
        </p:txBody>
      </p:sp>
      <p:sp>
        <p:nvSpPr>
          <p:cNvPr id="16" name="Text 12"/>
          <p:cNvSpPr txBox="1"/>
          <p:nvPr/>
        </p:nvSpPr>
        <p:spPr>
          <a:xfrm>
            <a:off x="6720840" y="2834640"/>
            <a:ext cx="1965960" cy="1051560"/>
          </a:xfrm>
          <a:prstGeom prst="rect">
            <a:avLst/>
          </a:prstGeom>
          <a:noFill/>
          <a:ln/>
        </p:spPr>
        <p:txBody>
          <a:bodyPr wrap="square" lIns="0" tIns="0" rIns="0" bIns="0" rtlCol="0" anchor="t"/>
          <a:lstStyle/>
          <a:p>
            <a:pPr indent="0" marL="0">
              <a:buNone/>
            </a:pPr>
            <a:r>
              <a:rPr lang="en-US" sz="1100" dirty="0">
                <a:solidFill>
                  <a:schemeClr val="tx1"/>
                </a:solidFill>
              </a:rPr>
              <a:t>MEASURED BY US: keyword baseline on a public 600-question labelled set (73.8% within one level); label provenance undocumented</a:t>
            </a:r>
            <a:endParaRPr lang="en-US" sz="1100" dirty="0"/>
          </a:p>
        </p:txBody>
      </p:sp>
      <p:sp>
        <p:nvSpPr>
          <p:cNvPr id="17" name="Text 13"/>
          <p:cNvSpPr txBox="1"/>
          <p:nvPr/>
        </p:nvSpPr>
        <p:spPr>
          <a:xfrm>
            <a:off x="4983480" y="3931920"/>
            <a:ext cx="3703320" cy="777240"/>
          </a:xfrm>
          <a:prstGeom prst="rect">
            <a:avLst/>
          </a:prstGeom>
          <a:noFill/>
          <a:ln/>
        </p:spPr>
        <p:txBody>
          <a:bodyPr wrap="square" lIns="0" tIns="0" rIns="0" bIns="0" rtlCol="0" anchor="t"/>
          <a:lstStyle/>
          <a:p>
            <a:pPr indent="0" marL="0">
              <a:buNone/>
            </a:pPr>
            <a:r>
              <a:rPr lang="en-US" sz="1100" i="1" dirty="0">
                <a:solidFill>
                  <a:schemeClr val="tx2"/>
                </a:solidFill>
              </a:rPr>
              <a:t>Two ratings from one model show consistency, not proof of accuracy - so they act as a disagreement detector: split ratings go to faculty, one-level gaps are low severity, and every rating can be overridden.</a:t>
            </a:r>
            <a:endParaRPr lang="en-US" sz="11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2800" b="1" dirty="0">
                <a:solidFill>
                  <a:schemeClr val="bg1"/>
                </a:solidFill>
                <a:latin typeface="Cambria" pitchFamily="34" charset="0"/>
                <a:ea typeface="Cambria" pitchFamily="34" charset="-122"/>
                <a:cs typeface="Cambria" pitchFamily="34" charset="-120"/>
              </a:rPr>
              <a:t>Live demo</a:t>
            </a:r>
            <a:endParaRPr lang="en-US" sz="2800" dirty="0"/>
          </a:p>
        </p:txBody>
      </p:sp>
      <p:sp>
        <p:nvSpPr>
          <p:cNvPr id="3" name="Demo step 1"/>
          <p:cNvSpPr/>
          <p:nvPr/>
        </p:nvSpPr>
        <p:spPr>
          <a:xfrm>
            <a:off x="548640" y="1143000"/>
            <a:ext cx="502920" cy="502920"/>
          </a:xfrm>
          <a:prstGeom prst="ellipse">
            <a:avLst/>
          </a:prstGeom>
          <a:solidFill>
            <a:schemeClr val="accent2"/>
          </a:solidFill>
          <a:ln w="12700">
            <a:solidFill>
              <a:schemeClr val="accent2"/>
            </a:solidFill>
            <a:prstDash val="solid"/>
          </a:ln>
        </p:spPr>
      </p:sp>
      <p:sp>
        <p:nvSpPr>
          <p:cNvPr id="4" name="Text 2"/>
          <p:cNvSpPr txBox="1"/>
          <p:nvPr/>
        </p:nvSpPr>
        <p:spPr>
          <a:xfrm>
            <a:off x="548640" y="1143000"/>
            <a:ext cx="502920" cy="502920"/>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5" name="Text 3"/>
          <p:cNvSpPr txBox="1"/>
          <p:nvPr/>
        </p:nvSpPr>
        <p:spPr>
          <a:xfrm>
            <a:off x="1280160" y="1161288"/>
            <a:ext cx="2194560" cy="457200"/>
          </a:xfrm>
          <a:prstGeom prst="rect">
            <a:avLst/>
          </a:prstGeom>
          <a:noFill/>
          <a:ln/>
        </p:spPr>
        <p:txBody>
          <a:bodyPr wrap="square" lIns="0" tIns="0" rIns="0" bIns="0" rtlCol="0" anchor="ctr"/>
          <a:lstStyle/>
          <a:p>
            <a:pPr indent="0" marL="0">
              <a:buNone/>
            </a:pPr>
            <a:r>
              <a:rPr lang="en-US" sz="1700" b="1" dirty="0">
                <a:solidFill>
                  <a:schemeClr val="bg1"/>
                </a:solidFill>
              </a:rPr>
              <a:t>Quick check</a:t>
            </a:r>
            <a:endParaRPr lang="en-US" sz="1700" dirty="0"/>
          </a:p>
        </p:txBody>
      </p:sp>
      <p:sp>
        <p:nvSpPr>
          <p:cNvPr id="6" name="Text 4"/>
          <p:cNvSpPr txBox="1"/>
          <p:nvPr/>
        </p:nvSpPr>
        <p:spPr>
          <a:xfrm>
            <a:off x="3520440" y="1161288"/>
            <a:ext cx="5120640" cy="457200"/>
          </a:xfrm>
          <a:prstGeom prst="rect">
            <a:avLst/>
          </a:prstGeom>
          <a:noFill/>
          <a:ln/>
        </p:spPr>
        <p:txBody>
          <a:bodyPr wrap="square" lIns="0" tIns="0" rIns="0" bIns="0" rtlCol="0" anchor="ctr"/>
          <a:lstStyle/>
          <a:p>
            <a:pPr indent="0" marL="0">
              <a:buNone/>
            </a:pPr>
            <a:r>
              <a:rPr lang="en-US" sz="1400" dirty="0">
                <a:solidFill>
                  <a:schemeClr val="bg2"/>
                </a:solidFill>
              </a:rPr>
              <a:t>Type any CLO and exam question - two raters give a verdict in seconds</a:t>
            </a:r>
            <a:endParaRPr lang="en-US" sz="1400" dirty="0"/>
          </a:p>
        </p:txBody>
      </p:sp>
      <p:sp>
        <p:nvSpPr>
          <p:cNvPr id="7" name="Demo step 2"/>
          <p:cNvSpPr/>
          <p:nvPr/>
        </p:nvSpPr>
        <p:spPr>
          <a:xfrm>
            <a:off x="548640" y="1856232"/>
            <a:ext cx="502920" cy="502920"/>
          </a:xfrm>
          <a:prstGeom prst="ellipse">
            <a:avLst/>
          </a:prstGeom>
          <a:solidFill>
            <a:schemeClr val="accent2"/>
          </a:solidFill>
          <a:ln w="12700">
            <a:solidFill>
              <a:schemeClr val="accent2"/>
            </a:solidFill>
            <a:prstDash val="solid"/>
          </a:ln>
        </p:spPr>
      </p:sp>
      <p:sp>
        <p:nvSpPr>
          <p:cNvPr id="8" name="Text 6"/>
          <p:cNvSpPr txBox="1"/>
          <p:nvPr/>
        </p:nvSpPr>
        <p:spPr>
          <a:xfrm>
            <a:off x="548640" y="1856232"/>
            <a:ext cx="502920" cy="502920"/>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9" name="Text 7"/>
          <p:cNvSpPr txBox="1"/>
          <p:nvPr/>
        </p:nvSpPr>
        <p:spPr>
          <a:xfrm>
            <a:off x="1280160" y="1874520"/>
            <a:ext cx="2194560" cy="457200"/>
          </a:xfrm>
          <a:prstGeom prst="rect">
            <a:avLst/>
          </a:prstGeom>
          <a:noFill/>
          <a:ln/>
        </p:spPr>
        <p:txBody>
          <a:bodyPr wrap="square" lIns="0" tIns="0" rIns="0" bIns="0" rtlCol="0" anchor="ctr"/>
          <a:lstStyle/>
          <a:p>
            <a:pPr indent="0" marL="0">
              <a:buNone/>
            </a:pPr>
            <a:r>
              <a:rPr lang="en-US" sz="1700" b="1" dirty="0">
                <a:solidFill>
                  <a:schemeClr val="bg1"/>
                </a:solidFill>
              </a:rPr>
              <a:t>CLO alignment</a:t>
            </a:r>
            <a:endParaRPr lang="en-US" sz="1700" dirty="0"/>
          </a:p>
        </p:txBody>
      </p:sp>
      <p:sp>
        <p:nvSpPr>
          <p:cNvPr id="10" name="Text 8"/>
          <p:cNvSpPr txBox="1"/>
          <p:nvPr/>
        </p:nvSpPr>
        <p:spPr>
          <a:xfrm>
            <a:off x="3520440" y="1874520"/>
            <a:ext cx="5120640" cy="457200"/>
          </a:xfrm>
          <a:prstGeom prst="rect">
            <a:avLst/>
          </a:prstGeom>
          <a:noFill/>
          <a:ln/>
        </p:spPr>
        <p:txBody>
          <a:bodyPr wrap="square" lIns="0" tIns="0" rIns="0" bIns="0" rtlCol="0" anchor="ctr"/>
          <a:lstStyle/>
          <a:p>
            <a:pPr indent="0" marL="0">
              <a:buNone/>
            </a:pPr>
            <a:r>
              <a:rPr lang="en-US" sz="1400" dirty="0">
                <a:solidFill>
                  <a:schemeClr val="bg2"/>
                </a:solidFill>
              </a:rPr>
              <a:t>CLO-5 flagged: C4 promised, C1 tested - with the quoted question and marks</a:t>
            </a:r>
            <a:endParaRPr lang="en-US" sz="1400" dirty="0"/>
          </a:p>
        </p:txBody>
      </p:sp>
      <p:sp>
        <p:nvSpPr>
          <p:cNvPr id="11" name="Demo step 3"/>
          <p:cNvSpPr/>
          <p:nvPr/>
        </p:nvSpPr>
        <p:spPr>
          <a:xfrm>
            <a:off x="548640" y="2569464"/>
            <a:ext cx="502920" cy="502920"/>
          </a:xfrm>
          <a:prstGeom prst="ellipse">
            <a:avLst/>
          </a:prstGeom>
          <a:solidFill>
            <a:schemeClr val="accent2"/>
          </a:solidFill>
          <a:ln w="12700">
            <a:solidFill>
              <a:schemeClr val="accent2"/>
            </a:solidFill>
            <a:prstDash val="solid"/>
          </a:ln>
        </p:spPr>
      </p:sp>
      <p:sp>
        <p:nvSpPr>
          <p:cNvPr id="12" name="Text 10"/>
          <p:cNvSpPr txBox="1"/>
          <p:nvPr/>
        </p:nvSpPr>
        <p:spPr>
          <a:xfrm>
            <a:off x="548640" y="2569464"/>
            <a:ext cx="502920" cy="502920"/>
          </a:xfrm>
          <a:prstGeom prst="rect">
            <a:avLst/>
          </a:prstGeom>
          <a:no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3" name="Text 11"/>
          <p:cNvSpPr txBox="1"/>
          <p:nvPr/>
        </p:nvSpPr>
        <p:spPr>
          <a:xfrm>
            <a:off x="1280160" y="2587752"/>
            <a:ext cx="2194560" cy="457200"/>
          </a:xfrm>
          <a:prstGeom prst="rect">
            <a:avLst/>
          </a:prstGeom>
          <a:noFill/>
          <a:ln/>
        </p:spPr>
        <p:txBody>
          <a:bodyPr wrap="square" lIns="0" tIns="0" rIns="0" bIns="0" rtlCol="0" anchor="ctr"/>
          <a:lstStyle/>
          <a:p>
            <a:pPr indent="0" marL="0">
              <a:buNone/>
            </a:pPr>
            <a:r>
              <a:rPr lang="en-US" sz="1700" b="1" dirty="0">
                <a:solidFill>
                  <a:schemeClr val="bg1"/>
                </a:solidFill>
              </a:rPr>
              <a:t>Attainment validity</a:t>
            </a:r>
            <a:endParaRPr lang="en-US" sz="1700" dirty="0"/>
          </a:p>
        </p:txBody>
      </p:sp>
      <p:sp>
        <p:nvSpPr>
          <p:cNvPr id="14" name="Text 12"/>
          <p:cNvSpPr txBox="1"/>
          <p:nvPr/>
        </p:nvSpPr>
        <p:spPr>
          <a:xfrm>
            <a:off x="3520440" y="2587752"/>
            <a:ext cx="5120640" cy="457200"/>
          </a:xfrm>
          <a:prstGeom prst="rect">
            <a:avLst/>
          </a:prstGeom>
          <a:noFill/>
          <a:ln/>
        </p:spPr>
        <p:txBody>
          <a:bodyPr wrap="square" lIns="0" tIns="0" rIns="0" bIns="0" rtlCol="0" anchor="ctr"/>
          <a:lstStyle/>
          <a:p>
            <a:pPr indent="0" marL="0">
              <a:buNone/>
            </a:pPr>
            <a:r>
              <a:rPr lang="en-US" sz="1400" dirty="0">
                <a:solidFill>
                  <a:schemeClr val="bg2"/>
                </a:solidFill>
              </a:rPr>
              <a:t>100% “attained” - but the only supplied evidence is recall</a:t>
            </a:r>
            <a:endParaRPr lang="en-US" sz="1400" dirty="0"/>
          </a:p>
        </p:txBody>
      </p:sp>
      <p:sp>
        <p:nvSpPr>
          <p:cNvPr id="15" name="Demo step 4"/>
          <p:cNvSpPr/>
          <p:nvPr/>
        </p:nvSpPr>
        <p:spPr>
          <a:xfrm>
            <a:off x="548640" y="3282696"/>
            <a:ext cx="502920" cy="502920"/>
          </a:xfrm>
          <a:prstGeom prst="ellipse">
            <a:avLst/>
          </a:prstGeom>
          <a:solidFill>
            <a:schemeClr val="accent2"/>
          </a:solidFill>
          <a:ln w="12700">
            <a:solidFill>
              <a:schemeClr val="accent2"/>
            </a:solidFill>
            <a:prstDash val="solid"/>
          </a:ln>
        </p:spPr>
      </p:sp>
      <p:sp>
        <p:nvSpPr>
          <p:cNvPr id="16" name="Text 14"/>
          <p:cNvSpPr txBox="1"/>
          <p:nvPr/>
        </p:nvSpPr>
        <p:spPr>
          <a:xfrm>
            <a:off x="548640" y="3282696"/>
            <a:ext cx="502920" cy="502920"/>
          </a:xfrm>
          <a:prstGeom prst="rect">
            <a:avLst/>
          </a:prstGeom>
          <a:noFill/>
          <a:ln/>
        </p:spPr>
        <p:txBody>
          <a:bodyPr wrap="square" lIns="0" tIns="0" rIns="0" bIns="0" rtlCol="0" anchor="ctr"/>
          <a:lstStyle/>
          <a:p>
            <a:pPr algn="ctr" indent="0" marL="0">
              <a:buNone/>
            </a:pPr>
            <a:r>
              <a:rPr lang="en-US" sz="1600" b="1" dirty="0">
                <a:solidFill>
                  <a:schemeClr val="tx2"/>
                </a:solidFill>
              </a:rPr>
              <a:t>4</a:t>
            </a:r>
            <a:endParaRPr lang="en-US" sz="1600" dirty="0"/>
          </a:p>
        </p:txBody>
      </p:sp>
      <p:sp>
        <p:nvSpPr>
          <p:cNvPr id="17" name="Text 15"/>
          <p:cNvSpPr txBox="1"/>
          <p:nvPr/>
        </p:nvSpPr>
        <p:spPr>
          <a:xfrm>
            <a:off x="1280160" y="3300984"/>
            <a:ext cx="2194560" cy="457200"/>
          </a:xfrm>
          <a:prstGeom prst="rect">
            <a:avLst/>
          </a:prstGeom>
          <a:noFill/>
          <a:ln/>
        </p:spPr>
        <p:txBody>
          <a:bodyPr wrap="square" lIns="0" tIns="0" rIns="0" bIns="0" rtlCol="0" anchor="ctr"/>
          <a:lstStyle/>
          <a:p>
            <a:pPr indent="0" marL="0">
              <a:buNone/>
            </a:pPr>
            <a:r>
              <a:rPr lang="en-US" sz="1700" b="1" dirty="0">
                <a:solidFill>
                  <a:schemeClr val="bg1"/>
                </a:solidFill>
              </a:rPr>
              <a:t>Fix it</a:t>
            </a:r>
            <a:endParaRPr lang="en-US" sz="1700" dirty="0"/>
          </a:p>
        </p:txBody>
      </p:sp>
      <p:sp>
        <p:nvSpPr>
          <p:cNvPr id="18" name="Text 16"/>
          <p:cNvSpPr txBox="1"/>
          <p:nvPr/>
        </p:nvSpPr>
        <p:spPr>
          <a:xfrm>
            <a:off x="3520440" y="3300984"/>
            <a:ext cx="5120640" cy="457200"/>
          </a:xfrm>
          <a:prstGeom prst="rect">
            <a:avLst/>
          </a:prstGeom>
          <a:noFill/>
          <a:ln/>
        </p:spPr>
        <p:txBody>
          <a:bodyPr wrap="square" lIns="0" tIns="0" rIns="0" bIns="0" rtlCol="0" anchor="ctr"/>
          <a:lstStyle/>
          <a:p>
            <a:pPr indent="0" marL="0">
              <a:buNone/>
            </a:pPr>
            <a:r>
              <a:rPr lang="en-US" sz="1400" dirty="0">
                <a:solidFill>
                  <a:schemeClr val="bg2"/>
                </a:solidFill>
              </a:rPr>
              <a:t>Generate an aligned lab-exam task; faculty approve or correct</a:t>
            </a:r>
            <a:endParaRPr lang="en-US" sz="1400" dirty="0"/>
          </a:p>
        </p:txBody>
      </p:sp>
      <p:sp>
        <p:nvSpPr>
          <p:cNvPr id="19" name="Demo step 5"/>
          <p:cNvSpPr/>
          <p:nvPr/>
        </p:nvSpPr>
        <p:spPr>
          <a:xfrm>
            <a:off x="548640" y="3995928"/>
            <a:ext cx="502920" cy="502920"/>
          </a:xfrm>
          <a:prstGeom prst="ellipse">
            <a:avLst/>
          </a:prstGeom>
          <a:solidFill>
            <a:schemeClr val="accent2"/>
          </a:solidFill>
          <a:ln w="12700">
            <a:solidFill>
              <a:schemeClr val="accent2"/>
            </a:solidFill>
            <a:prstDash val="solid"/>
          </a:ln>
        </p:spPr>
      </p:sp>
      <p:sp>
        <p:nvSpPr>
          <p:cNvPr id="20" name="Text 18"/>
          <p:cNvSpPr txBox="1"/>
          <p:nvPr/>
        </p:nvSpPr>
        <p:spPr>
          <a:xfrm>
            <a:off x="548640" y="3995928"/>
            <a:ext cx="502920" cy="502920"/>
          </a:xfrm>
          <a:prstGeom prst="rect">
            <a:avLst/>
          </a:prstGeom>
          <a:noFill/>
          <a:ln/>
        </p:spPr>
        <p:txBody>
          <a:bodyPr wrap="square" lIns="0" tIns="0" rIns="0" bIns="0" rtlCol="0" anchor="ctr"/>
          <a:lstStyle/>
          <a:p>
            <a:pPr algn="ctr" indent="0" marL="0">
              <a:buNone/>
            </a:pPr>
            <a:r>
              <a:rPr lang="en-US" sz="1600" b="1" dirty="0">
                <a:solidFill>
                  <a:schemeClr val="tx2"/>
                </a:solidFill>
              </a:rPr>
              <a:t>5</a:t>
            </a:r>
            <a:endParaRPr lang="en-US" sz="1600" dirty="0"/>
          </a:p>
        </p:txBody>
      </p:sp>
      <p:sp>
        <p:nvSpPr>
          <p:cNvPr id="21" name="Text 19"/>
          <p:cNvSpPr txBox="1"/>
          <p:nvPr/>
        </p:nvSpPr>
        <p:spPr>
          <a:xfrm>
            <a:off x="1280160" y="4014216"/>
            <a:ext cx="2194560" cy="457200"/>
          </a:xfrm>
          <a:prstGeom prst="rect">
            <a:avLst/>
          </a:prstGeom>
          <a:noFill/>
          <a:ln/>
        </p:spPr>
        <p:txBody>
          <a:bodyPr wrap="square" lIns="0" tIns="0" rIns="0" bIns="0" rtlCol="0" anchor="ctr"/>
          <a:lstStyle/>
          <a:p>
            <a:pPr indent="0" marL="0">
              <a:buNone/>
            </a:pPr>
            <a:r>
              <a:rPr lang="en-US" sz="1700" b="1" dirty="0">
                <a:solidFill>
                  <a:schemeClr val="bg1"/>
                </a:solidFill>
              </a:rPr>
              <a:t>Industry gaps</a:t>
            </a:r>
            <a:endParaRPr lang="en-US" sz="1700" dirty="0"/>
          </a:p>
        </p:txBody>
      </p:sp>
      <p:sp>
        <p:nvSpPr>
          <p:cNvPr id="22" name="Text 20"/>
          <p:cNvSpPr txBox="1"/>
          <p:nvPr/>
        </p:nvSpPr>
        <p:spPr>
          <a:xfrm>
            <a:off x="3520440" y="4014216"/>
            <a:ext cx="5120640" cy="457200"/>
          </a:xfrm>
          <a:prstGeom prst="rect">
            <a:avLst/>
          </a:prstGeom>
          <a:noFill/>
          <a:ln/>
        </p:spPr>
        <p:txBody>
          <a:bodyPr wrap="square" lIns="0" tIns="0" rIns="0" bIns="0" rtlCol="0" anchor="ctr"/>
          <a:lstStyle/>
          <a:p>
            <a:pPr indent="0" marL="0">
              <a:buNone/>
            </a:pPr>
            <a:r>
              <a:rPr lang="en-US" sz="1400" dirty="0">
                <a:solidFill>
                  <a:schemeClr val="bg2"/>
                </a:solidFill>
              </a:rPr>
              <a:t>Troubleshooting vs real Pakistani postings, then a student practice plan</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FD8D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Built for the people who sign the course file</a:t>
            </a:r>
            <a:endParaRPr lang="en-US" sz="2800" dirty="0"/>
          </a:p>
        </p:txBody>
      </p:sp>
      <p:sp>
        <p:nvSpPr>
          <p:cNvPr id="3" name="Audience card 1"/>
          <p:cNvSpPr/>
          <p:nvPr/>
        </p:nvSpPr>
        <p:spPr>
          <a:xfrm>
            <a:off x="457200" y="1188720"/>
            <a:ext cx="4023360" cy="1143000"/>
          </a:xfrm>
          <a:prstGeom prst="roundRect">
            <a:avLst>
              <a:gd name="adj" fmla="val 64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Audience 1 circle"/>
          <p:cNvSpPr/>
          <p:nvPr/>
        </p:nvSpPr>
        <p:spPr>
          <a:xfrm>
            <a:off x="640080" y="1463040"/>
            <a:ext cx="594360" cy="594360"/>
          </a:xfrm>
          <a:prstGeom prst="ellipse">
            <a:avLst/>
          </a:prstGeom>
          <a:solidFill>
            <a:schemeClr val="accent1"/>
          </a:solidFill>
          <a:ln w="12700">
            <a:solidFill>
              <a:schemeClr val="accent1"/>
            </a:solidFill>
            <a:prstDash val="solid"/>
          </a:ln>
        </p:spPr>
      </p:sp>
      <p:pic>
        <p:nvPicPr>
          <p:cNvPr id="5" name="Audience 1 icon" descr="preencoded.png">    </p:cNvPr>
          <p:cNvPicPr>
            <a:picLocks noChangeAspect="1"/>
          </p:cNvPicPr>
          <p:nvPr/>
        </p:nvPicPr>
        <p:blipFill>
          <a:blip r:embed="rId1"/>
          <a:stretch>
            <a:fillRect/>
          </a:stretch>
        </p:blipFill>
        <p:spPr>
          <a:xfrm>
            <a:off x="794614" y="1617574"/>
            <a:ext cx="285293" cy="285293"/>
          </a:xfrm>
          <a:prstGeom prst="rect">
            <a:avLst/>
          </a:prstGeom>
        </p:spPr>
      </p:pic>
      <p:sp>
        <p:nvSpPr>
          <p:cNvPr id="6" name="Text 3"/>
          <p:cNvSpPr txBox="1"/>
          <p:nvPr/>
        </p:nvSpPr>
        <p:spPr>
          <a:xfrm>
            <a:off x="1417320" y="1325880"/>
            <a:ext cx="2926080" cy="320040"/>
          </a:xfrm>
          <a:prstGeom prst="rect">
            <a:avLst/>
          </a:prstGeom>
          <a:noFill/>
          <a:ln/>
        </p:spPr>
        <p:txBody>
          <a:bodyPr wrap="square" lIns="0" tIns="0" rIns="0" bIns="0" rtlCol="0" anchor="ctr"/>
          <a:lstStyle/>
          <a:p>
            <a:pPr indent="0" marL="0">
              <a:buNone/>
            </a:pPr>
            <a:r>
              <a:rPr lang="en-US" sz="1400" b="1" dirty="0">
                <a:solidFill>
                  <a:schemeClr val="tx2"/>
                </a:solidFill>
              </a:rPr>
              <a:t>Faculty</a:t>
            </a:r>
            <a:endParaRPr lang="en-US" sz="1400" dirty="0"/>
          </a:p>
        </p:txBody>
      </p:sp>
      <p:sp>
        <p:nvSpPr>
          <p:cNvPr id="7" name="Text 4"/>
          <p:cNvSpPr txBox="1"/>
          <p:nvPr/>
        </p:nvSpPr>
        <p:spPr>
          <a:xfrm>
            <a:off x="1417320" y="1645920"/>
            <a:ext cx="2926080" cy="594360"/>
          </a:xfrm>
          <a:prstGeom prst="rect">
            <a:avLst/>
          </a:prstGeom>
          <a:noFill/>
          <a:ln/>
        </p:spPr>
        <p:txBody>
          <a:bodyPr wrap="square" lIns="0" tIns="0" rIns="0" bIns="0" rtlCol="0" anchor="t"/>
          <a:lstStyle/>
          <a:p>
            <a:pPr indent="0" marL="0">
              <a:buNone/>
            </a:pPr>
            <a:r>
              <a:rPr lang="en-US" sz="1200" dirty="0">
                <a:solidFill>
                  <a:schemeClr val="tx1"/>
                </a:solidFill>
              </a:rPr>
              <a:t>See which questions miss their CLO level and get an aligned replacement</a:t>
            </a:r>
            <a:endParaRPr lang="en-US" sz="1200" dirty="0"/>
          </a:p>
        </p:txBody>
      </p:sp>
      <p:sp>
        <p:nvSpPr>
          <p:cNvPr id="8" name="Audience card 2"/>
          <p:cNvSpPr/>
          <p:nvPr/>
        </p:nvSpPr>
        <p:spPr>
          <a:xfrm>
            <a:off x="4663440" y="1188720"/>
            <a:ext cx="4023360" cy="1143000"/>
          </a:xfrm>
          <a:prstGeom prst="roundRect">
            <a:avLst>
              <a:gd name="adj" fmla="val 64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Audience 2 circle"/>
          <p:cNvSpPr/>
          <p:nvPr/>
        </p:nvSpPr>
        <p:spPr>
          <a:xfrm>
            <a:off x="4846320" y="1463040"/>
            <a:ext cx="594360" cy="594360"/>
          </a:xfrm>
          <a:prstGeom prst="ellipse">
            <a:avLst/>
          </a:prstGeom>
          <a:solidFill>
            <a:schemeClr val="tx2"/>
          </a:solidFill>
          <a:ln w="12700">
            <a:solidFill>
              <a:schemeClr val="tx2"/>
            </a:solidFill>
            <a:prstDash val="solid"/>
          </a:ln>
        </p:spPr>
      </p:sp>
      <p:pic>
        <p:nvPicPr>
          <p:cNvPr id="10" name="Audience 2 icon" descr="preencoded.png">    </p:cNvPr>
          <p:cNvPicPr>
            <a:picLocks noChangeAspect="1"/>
          </p:cNvPicPr>
          <p:nvPr/>
        </p:nvPicPr>
        <p:blipFill>
          <a:blip r:embed="rId2"/>
          <a:stretch>
            <a:fillRect/>
          </a:stretch>
        </p:blipFill>
        <p:spPr>
          <a:xfrm>
            <a:off x="5000854" y="1617574"/>
            <a:ext cx="285293" cy="285293"/>
          </a:xfrm>
          <a:prstGeom prst="rect">
            <a:avLst/>
          </a:prstGeom>
        </p:spPr>
      </p:pic>
      <p:sp>
        <p:nvSpPr>
          <p:cNvPr id="11" name="Text 7"/>
          <p:cNvSpPr txBox="1"/>
          <p:nvPr/>
        </p:nvSpPr>
        <p:spPr>
          <a:xfrm>
            <a:off x="5623560" y="1325880"/>
            <a:ext cx="2926080" cy="320040"/>
          </a:xfrm>
          <a:prstGeom prst="rect">
            <a:avLst/>
          </a:prstGeom>
          <a:noFill/>
          <a:ln/>
        </p:spPr>
        <p:txBody>
          <a:bodyPr wrap="square" lIns="0" tIns="0" rIns="0" bIns="0" rtlCol="0" anchor="ctr"/>
          <a:lstStyle/>
          <a:p>
            <a:pPr indent="0" marL="0">
              <a:buNone/>
            </a:pPr>
            <a:r>
              <a:rPr lang="en-US" sz="1400" b="1" dirty="0">
                <a:solidFill>
                  <a:schemeClr val="tx2"/>
                </a:solidFill>
              </a:rPr>
              <a:t>OBE / QEC coordinators</a:t>
            </a:r>
            <a:endParaRPr lang="en-US" sz="1400" dirty="0"/>
          </a:p>
        </p:txBody>
      </p:sp>
      <p:sp>
        <p:nvSpPr>
          <p:cNvPr id="12" name="Text 8"/>
          <p:cNvSpPr txBox="1"/>
          <p:nvPr/>
        </p:nvSpPr>
        <p:spPr>
          <a:xfrm>
            <a:off x="5623560" y="1645920"/>
            <a:ext cx="2926080" cy="594360"/>
          </a:xfrm>
          <a:prstGeom prst="rect">
            <a:avLst/>
          </a:prstGeom>
          <a:noFill/>
          <a:ln/>
        </p:spPr>
        <p:txBody>
          <a:bodyPr wrap="square" lIns="0" tIns="0" rIns="0" bIns="0" rtlCol="0" anchor="t"/>
          <a:lstStyle/>
          <a:p>
            <a:pPr indent="0" marL="0">
              <a:buNone/>
            </a:pPr>
            <a:r>
              <a:rPr lang="en-US" sz="1200" dirty="0">
                <a:solidFill>
                  <a:schemeClr val="tx1"/>
                </a:solidFill>
              </a:rPr>
              <a:t>CLO x question matrix, attainment validity and PLO evidence in one Excel pack</a:t>
            </a:r>
            <a:endParaRPr lang="en-US" sz="1200" dirty="0"/>
          </a:p>
        </p:txBody>
      </p:sp>
      <p:sp>
        <p:nvSpPr>
          <p:cNvPr id="13" name="Audience card 3"/>
          <p:cNvSpPr/>
          <p:nvPr/>
        </p:nvSpPr>
        <p:spPr>
          <a:xfrm>
            <a:off x="457200" y="2514600"/>
            <a:ext cx="4023360" cy="1143000"/>
          </a:xfrm>
          <a:prstGeom prst="roundRect">
            <a:avLst>
              <a:gd name="adj" fmla="val 64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Audience 3 circle"/>
          <p:cNvSpPr/>
          <p:nvPr/>
        </p:nvSpPr>
        <p:spPr>
          <a:xfrm>
            <a:off x="640080" y="2788920"/>
            <a:ext cx="594360" cy="594360"/>
          </a:xfrm>
          <a:prstGeom prst="ellipse">
            <a:avLst/>
          </a:prstGeom>
          <a:solidFill>
            <a:schemeClr val="accent2"/>
          </a:solidFill>
          <a:ln w="12700">
            <a:solidFill>
              <a:schemeClr val="accent2"/>
            </a:solidFill>
            <a:prstDash val="solid"/>
          </a:ln>
        </p:spPr>
      </p:sp>
      <p:pic>
        <p:nvPicPr>
          <p:cNvPr id="15" name="Audience 3 icon" descr="preencoded.png">    </p:cNvPr>
          <p:cNvPicPr>
            <a:picLocks noChangeAspect="1"/>
          </p:cNvPicPr>
          <p:nvPr/>
        </p:nvPicPr>
        <p:blipFill>
          <a:blip r:embed="rId3"/>
          <a:stretch>
            <a:fillRect/>
          </a:stretch>
        </p:blipFill>
        <p:spPr>
          <a:xfrm>
            <a:off x="794614" y="2943454"/>
            <a:ext cx="285293" cy="285293"/>
          </a:xfrm>
          <a:prstGeom prst="rect">
            <a:avLst/>
          </a:prstGeom>
        </p:spPr>
      </p:pic>
      <p:sp>
        <p:nvSpPr>
          <p:cNvPr id="16" name="Text 11"/>
          <p:cNvSpPr txBox="1"/>
          <p:nvPr/>
        </p:nvSpPr>
        <p:spPr>
          <a:xfrm>
            <a:off x="1417320" y="2651760"/>
            <a:ext cx="2926080" cy="320040"/>
          </a:xfrm>
          <a:prstGeom prst="rect">
            <a:avLst/>
          </a:prstGeom>
          <a:noFill/>
          <a:ln/>
        </p:spPr>
        <p:txBody>
          <a:bodyPr wrap="square" lIns="0" tIns="0" rIns="0" bIns="0" rtlCol="0" anchor="ctr"/>
          <a:lstStyle/>
          <a:p>
            <a:pPr indent="0" marL="0">
              <a:buNone/>
            </a:pPr>
            <a:r>
              <a:rPr lang="en-US" sz="1400" b="1" dirty="0">
                <a:solidFill>
                  <a:schemeClr val="tx2"/>
                </a:solidFill>
              </a:rPr>
              <a:t>Heads of department</a:t>
            </a:r>
            <a:endParaRPr lang="en-US" sz="1400" dirty="0"/>
          </a:p>
        </p:txBody>
      </p:sp>
      <p:sp>
        <p:nvSpPr>
          <p:cNvPr id="17" name="Text 12"/>
          <p:cNvSpPr txBox="1"/>
          <p:nvPr/>
        </p:nvSpPr>
        <p:spPr>
          <a:xfrm>
            <a:off x="1417320" y="2971800"/>
            <a:ext cx="2926080" cy="594360"/>
          </a:xfrm>
          <a:prstGeom prst="rect">
            <a:avLst/>
          </a:prstGeom>
          <a:noFill/>
          <a:ln/>
        </p:spPr>
        <p:txBody>
          <a:bodyPr wrap="square" lIns="0" tIns="0" rIns="0" bIns="0" rtlCol="0" anchor="t"/>
          <a:lstStyle/>
          <a:p>
            <a:pPr indent="0" marL="0">
              <a:buNone/>
            </a:pPr>
            <a:r>
              <a:rPr lang="en-US" sz="1200" dirty="0">
                <a:solidFill>
                  <a:schemeClr val="tx1"/>
                </a:solidFill>
              </a:rPr>
              <a:t>Find weak PLOs and industry gaps across a course before review visits</a:t>
            </a:r>
            <a:endParaRPr lang="en-US" sz="1200" dirty="0"/>
          </a:p>
        </p:txBody>
      </p:sp>
      <p:sp>
        <p:nvSpPr>
          <p:cNvPr id="18" name="Audience card 4"/>
          <p:cNvSpPr/>
          <p:nvPr/>
        </p:nvSpPr>
        <p:spPr>
          <a:xfrm>
            <a:off x="4663440" y="2514600"/>
            <a:ext cx="4023360" cy="1143000"/>
          </a:xfrm>
          <a:prstGeom prst="roundRect">
            <a:avLst>
              <a:gd name="adj" fmla="val 64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9" name="Audience 4 circle"/>
          <p:cNvSpPr/>
          <p:nvPr/>
        </p:nvSpPr>
        <p:spPr>
          <a:xfrm>
            <a:off x="4846320" y="2788920"/>
            <a:ext cx="594360" cy="594360"/>
          </a:xfrm>
          <a:prstGeom prst="ellipse">
            <a:avLst/>
          </a:prstGeom>
          <a:solidFill>
            <a:schemeClr val="accent4"/>
          </a:solidFill>
          <a:ln w="12700">
            <a:solidFill>
              <a:schemeClr val="accent4"/>
            </a:solidFill>
            <a:prstDash val="solid"/>
          </a:ln>
        </p:spPr>
      </p:sp>
      <p:pic>
        <p:nvPicPr>
          <p:cNvPr id="20" name="Audience 4 icon" descr="preencoded.png">    </p:cNvPr>
          <p:cNvPicPr>
            <a:picLocks noChangeAspect="1"/>
          </p:cNvPicPr>
          <p:nvPr/>
        </p:nvPicPr>
        <p:blipFill>
          <a:blip r:embed="rId4"/>
          <a:stretch>
            <a:fillRect/>
          </a:stretch>
        </p:blipFill>
        <p:spPr>
          <a:xfrm>
            <a:off x="5000854" y="2943454"/>
            <a:ext cx="285293" cy="285293"/>
          </a:xfrm>
          <a:prstGeom prst="rect">
            <a:avLst/>
          </a:prstGeom>
        </p:spPr>
      </p:pic>
      <p:sp>
        <p:nvSpPr>
          <p:cNvPr id="21" name="Text 15"/>
          <p:cNvSpPr txBox="1"/>
          <p:nvPr/>
        </p:nvSpPr>
        <p:spPr>
          <a:xfrm>
            <a:off x="5623560" y="2651760"/>
            <a:ext cx="2926080" cy="320040"/>
          </a:xfrm>
          <a:prstGeom prst="rect">
            <a:avLst/>
          </a:prstGeom>
          <a:noFill/>
          <a:ln/>
        </p:spPr>
        <p:txBody>
          <a:bodyPr wrap="square" lIns="0" tIns="0" rIns="0" bIns="0" rtlCol="0" anchor="ctr"/>
          <a:lstStyle/>
          <a:p>
            <a:pPr indent="0" marL="0">
              <a:buNone/>
            </a:pPr>
            <a:r>
              <a:rPr lang="en-US" sz="1400" b="1" dirty="0">
                <a:solidFill>
                  <a:schemeClr val="tx2"/>
                </a:solidFill>
              </a:rPr>
              <a:t>Students</a:t>
            </a:r>
            <a:endParaRPr lang="en-US" sz="1400" dirty="0"/>
          </a:p>
        </p:txBody>
      </p:sp>
      <p:sp>
        <p:nvSpPr>
          <p:cNvPr id="22" name="Text 16"/>
          <p:cNvSpPr txBox="1"/>
          <p:nvPr/>
        </p:nvSpPr>
        <p:spPr>
          <a:xfrm>
            <a:off x="5623560" y="2971800"/>
            <a:ext cx="2926080" cy="594360"/>
          </a:xfrm>
          <a:prstGeom prst="rect">
            <a:avLst/>
          </a:prstGeom>
          <a:noFill/>
          <a:ln/>
        </p:spPr>
        <p:txBody>
          <a:bodyPr wrap="square" lIns="0" tIns="0" rIns="0" bIns="0" rtlCol="0" anchor="t"/>
          <a:lstStyle/>
          <a:p>
            <a:pPr indent="0" marL="0">
              <a:buNone/>
            </a:pPr>
            <a:r>
              <a:rPr lang="en-US" sz="1200" dirty="0">
                <a:solidFill>
                  <a:schemeClr val="tx1"/>
                </a:solidFill>
              </a:rPr>
              <a:t>Turn a skill gap into a free-tool practice plan (Packet Tracer, Wireshark)</a:t>
            </a:r>
            <a:endParaRPr lang="en-US" sz="1200" dirty="0"/>
          </a:p>
        </p:txBody>
      </p:sp>
      <p:sp>
        <p:nvSpPr>
          <p:cNvPr id="23" name="Text 17"/>
          <p:cNvSpPr txBox="1"/>
          <p:nvPr/>
        </p:nvSpPr>
        <p:spPr>
          <a:xfrm>
            <a:off x="457200" y="3931920"/>
            <a:ext cx="8229600" cy="640080"/>
          </a:xfrm>
          <a:prstGeom prst="rect">
            <a:avLst/>
          </a:prstGeom>
          <a:noFill/>
          <a:ln/>
        </p:spPr>
        <p:txBody>
          <a:bodyPr wrap="square" lIns="0" tIns="0" rIns="0" bIns="0" rtlCol="0" anchor="ctr"/>
          <a:lstStyle/>
          <a:p>
            <a:pPr indent="0" marL="0">
              <a:buNone/>
            </a:pPr>
            <a:r>
              <a:rPr lang="en-US" sz="1300" b="1" dirty="0">
                <a:solidFill>
                  <a:schemeClr val="accent1"/>
                </a:solidFill>
              </a:rPr>
              <a:t>SDG 4 </a:t>
            </a:r>
            <a:pPr indent="0" marL="0">
              <a:buNone/>
            </a:pPr>
            <a:r>
              <a:rPr lang="en-US" sz="1300" dirty="0">
                <a:solidFill>
                  <a:schemeClr val="tx1"/>
                </a:solidFill>
              </a:rPr>
              <a:t>Quality Education  ·  </a:t>
            </a:r>
            <a:pPr indent="0" marL="0">
              <a:buNone/>
            </a:pPr>
            <a:r>
              <a:rPr lang="en-US" sz="1300" b="1" dirty="0">
                <a:solidFill>
                  <a:schemeClr val="accent1"/>
                </a:solidFill>
              </a:rPr>
              <a:t>SDG 8 </a:t>
            </a:r>
            <a:pPr indent="0" marL="0">
              <a:buNone/>
            </a:pPr>
            <a:r>
              <a:rPr lang="en-US" sz="1300" dirty="0">
                <a:solidFill>
                  <a:schemeClr val="tx1"/>
                </a:solidFill>
              </a:rPr>
              <a:t>Decent Work  ·  </a:t>
            </a:r>
            <a:pPr indent="0" marL="0">
              <a:buNone/>
            </a:pPr>
            <a:r>
              <a:rPr lang="en-US" sz="1300" b="1" dirty="0">
                <a:solidFill>
                  <a:schemeClr val="tx2"/>
                </a:solidFill>
              </a:rPr>
              <a:t>Adoption path: </a:t>
            </a:r>
            <a:pPr indent="0" marL="0">
              <a:buNone/>
            </a:pPr>
            <a:r>
              <a:rPr lang="en-US" sz="1300" dirty="0">
                <a:solidFill>
                  <a:schemeClr val="tx1"/>
                </a:solidFill>
              </a:rPr>
              <a:t>one department pilot → every course in a programme → programme-level PLO dashboard</a:t>
            </a:r>
            <a:endParaRPr lang="en-US" sz="13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2800" b="1" dirty="0">
                <a:solidFill>
                  <a:schemeClr val="bg1"/>
                </a:solidFill>
                <a:latin typeface="Cambria" pitchFamily="34" charset="0"/>
                <a:ea typeface="Cambria" pitchFamily="34" charset="-122"/>
                <a:cs typeface="Cambria" pitchFamily="34" charset="-120"/>
              </a:rPr>
              <a:t>What I built at AICON'26 - and its limits</a:t>
            </a:r>
            <a:endParaRPr lang="en-US" sz="2800" dirty="0"/>
          </a:p>
        </p:txBody>
      </p:sp>
      <p:sp>
        <p:nvSpPr>
          <p:cNvPr id="3" name="Built icon circle"/>
          <p:cNvSpPr/>
          <p:nvPr/>
        </p:nvSpPr>
        <p:spPr>
          <a:xfrm>
            <a:off x="548640" y="1097280"/>
            <a:ext cx="457200" cy="457200"/>
          </a:xfrm>
          <a:prstGeom prst="ellipse">
            <a:avLst/>
          </a:prstGeom>
          <a:solidFill>
            <a:schemeClr val="accent1"/>
          </a:solidFill>
          <a:ln w="12700">
            <a:solidFill>
              <a:schemeClr val="accent1"/>
            </a:solidFill>
            <a:prstDash val="solid"/>
          </a:ln>
        </p:spPr>
      </p:sp>
      <p:pic>
        <p:nvPicPr>
          <p:cNvPr id="4" name="Built icon icon" descr="preencoded.png">    </p:cNvPr>
          <p:cNvPicPr>
            <a:picLocks noChangeAspect="1"/>
          </p:cNvPicPr>
          <p:nvPr/>
        </p:nvPicPr>
        <p:blipFill>
          <a:blip r:embed="rId1"/>
          <a:stretch>
            <a:fillRect/>
          </a:stretch>
        </p:blipFill>
        <p:spPr>
          <a:xfrm>
            <a:off x="667512" y="1216152"/>
            <a:ext cx="219456" cy="219456"/>
          </a:xfrm>
          <a:prstGeom prst="rect">
            <a:avLst/>
          </a:prstGeom>
        </p:spPr>
      </p:pic>
      <p:sp>
        <p:nvSpPr>
          <p:cNvPr id="5" name="Limits icon circle"/>
          <p:cNvSpPr/>
          <p:nvPr/>
        </p:nvSpPr>
        <p:spPr>
          <a:xfrm>
            <a:off x="4754880" y="1097280"/>
            <a:ext cx="457200" cy="457200"/>
          </a:xfrm>
          <a:prstGeom prst="ellipse">
            <a:avLst/>
          </a:prstGeom>
          <a:solidFill>
            <a:schemeClr val="accent3"/>
          </a:solidFill>
          <a:ln w="12700">
            <a:solidFill>
              <a:schemeClr val="accent3"/>
            </a:solidFill>
            <a:prstDash val="solid"/>
          </a:ln>
        </p:spPr>
      </p:sp>
      <p:pic>
        <p:nvPicPr>
          <p:cNvPr id="6" name="Limits icon icon" descr="preencoded.png">    </p:cNvPr>
          <p:cNvPicPr>
            <a:picLocks noChangeAspect="1"/>
          </p:cNvPicPr>
          <p:nvPr/>
        </p:nvPicPr>
        <p:blipFill>
          <a:blip r:embed="rId2"/>
          <a:stretch>
            <a:fillRect/>
          </a:stretch>
        </p:blipFill>
        <p:spPr>
          <a:xfrm>
            <a:off x="4873752" y="1216152"/>
            <a:ext cx="219456" cy="219456"/>
          </a:xfrm>
          <a:prstGeom prst="rect">
            <a:avLst/>
          </a:prstGeom>
        </p:spPr>
      </p:pic>
      <p:sp>
        <p:nvSpPr>
          <p:cNvPr id="7" name="Text 3"/>
          <p:cNvSpPr txBox="1"/>
          <p:nvPr/>
        </p:nvSpPr>
        <p:spPr>
          <a:xfrm>
            <a:off x="548640" y="1691640"/>
            <a:ext cx="402336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bg1"/>
                </a:solidFill>
              </a:rPr>
              <a:t>Streamlit app with 9 tabs: CLO alignment with aligned-mark share, two-rating disagreement check, attainment-validity check</a:t>
            </a:r>
            <a:endParaRPr lang="en-US" sz="1300" dirty="0"/>
          </a:p>
          <a:p>
            <a:pPr marL="342900" indent="-342900">
              <a:spcAft>
                <a:spcPts val="600"/>
              </a:spcAft>
              <a:buSzPct val="100000"/>
              <a:buChar char="•"/>
            </a:pPr>
            <a:r>
              <a:rPr lang="en-US" sz="1300" dirty="0">
                <a:solidFill>
                  <a:schemeClr val="bg1"/>
                </a:solidFill>
              </a:rPr>
              <a:t>Industry gap map from sourced Pakistani postings, Gap-to-Lab, Student Mode, Excel course-file pack</a:t>
            </a:r>
            <a:endParaRPr lang="en-US" sz="1300" dirty="0"/>
          </a:p>
          <a:p>
            <a:pPr marL="342900" indent="-342900">
              <a:spcAft>
                <a:spcPts val="600"/>
              </a:spcAft>
              <a:buSzPct val="100000"/>
              <a:buChar char="•"/>
            </a:pPr>
            <a:r>
              <a:rPr lang="en-US" sz="1300" dirty="0">
                <a:solidFill>
                  <a:schemeClr val="bg1"/>
                </a:solidFill>
              </a:rPr>
              <a:t>Benchmark harness on a public 600-question labelled set and 35 automated tests</a:t>
            </a:r>
            <a:endParaRPr lang="en-US" sz="1300" dirty="0"/>
          </a:p>
          <a:p>
            <a:pPr marL="342900" indent="-342900">
              <a:spcAft>
                <a:spcPts val="600"/>
              </a:spcAft>
              <a:buSzPct val="100000"/>
              <a:buChar char="•"/>
            </a:pPr>
            <a:r>
              <a:rPr lang="en-US" sz="1300" dirty="0">
                <a:solidFill>
                  <a:schemeClr val="bg1"/>
                </a:solidFill>
              </a:rPr>
              <a:t>Tools disclosed: Claude (coding assistant), Gemini API (runtime), open-source libraries</a:t>
            </a:r>
            <a:endParaRPr lang="en-US" sz="1300" dirty="0"/>
          </a:p>
        </p:txBody>
      </p:sp>
      <p:sp>
        <p:nvSpPr>
          <p:cNvPr id="8" name="Text 4"/>
          <p:cNvSpPr txBox="1"/>
          <p:nvPr/>
        </p:nvSpPr>
        <p:spPr>
          <a:xfrm>
            <a:off x="4754880" y="1691640"/>
            <a:ext cx="393192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bg1"/>
                </a:solidFill>
              </a:rPr>
              <a:t>Decision support - not a PEC/HEC accreditation judgement</a:t>
            </a:r>
            <a:endParaRPr lang="en-US" sz="1300" dirty="0"/>
          </a:p>
          <a:p>
            <a:pPr marL="342900" indent="-342900">
              <a:spcAft>
                <a:spcPts val="600"/>
              </a:spcAft>
              <a:buSzPct val="100000"/>
              <a:buChar char="•"/>
            </a:pPr>
            <a:r>
              <a:rPr lang="en-US" sz="1300" dirty="0">
                <a:solidFill>
                  <a:schemeClr val="bg1"/>
                </a:solidFill>
              </a:rPr>
              <a:t>AI ratings can err: disagreement flagged, reasons shown, faculty override</a:t>
            </a:r>
            <a:endParaRPr lang="en-US" sz="1300" dirty="0"/>
          </a:p>
          <a:p>
            <a:pPr marL="342900" indent="-342900">
              <a:spcAft>
                <a:spcPts val="600"/>
              </a:spcAft>
              <a:buSzPct val="100000"/>
              <a:buChar char="•"/>
            </a:pPr>
            <a:r>
              <a:rPr lang="en-US" sz="1300" dirty="0">
                <a:solidFill>
                  <a:schemeClr val="bg1"/>
                </a:solidFill>
              </a:rPr>
              <a:t>Demo course and marks are synthetic; job postings are real but closed</a:t>
            </a:r>
            <a:endParaRPr lang="en-US" sz="1300" dirty="0"/>
          </a:p>
          <a:p>
            <a:pPr marL="342900" indent="-342900">
              <a:spcAft>
                <a:spcPts val="600"/>
              </a:spcAft>
              <a:buSzPct val="100000"/>
              <a:buChar char="•"/>
            </a:pPr>
            <a:r>
              <a:rPr lang="en-US" sz="1300" dirty="0">
                <a:solidFill>
                  <a:schemeClr val="bg1"/>
                </a:solidFill>
              </a:rPr>
              <a:t>Next: pilot on one real course file with its faculty</a:t>
            </a:r>
            <a:endParaRPr lang="en-US" sz="1300" dirty="0"/>
          </a:p>
        </p:txBody>
      </p:sp>
      <p:sp>
        <p:nvSpPr>
          <p:cNvPr id="9" name="Text 5"/>
          <p:cNvSpPr txBox="1"/>
          <p:nvPr/>
        </p:nvSpPr>
        <p:spPr>
          <a:xfrm>
            <a:off x="1143000" y="1143000"/>
            <a:ext cx="3200400" cy="365760"/>
          </a:xfrm>
          <a:prstGeom prst="rect">
            <a:avLst/>
          </a:prstGeom>
          <a:noFill/>
          <a:ln/>
        </p:spPr>
        <p:txBody>
          <a:bodyPr wrap="square" lIns="0" tIns="0" rIns="0" bIns="0" rtlCol="0" anchor="ctr"/>
          <a:lstStyle/>
          <a:p>
            <a:pPr indent="0" marL="0">
              <a:buNone/>
            </a:pPr>
            <a:r>
              <a:rPr lang="en-US" sz="1700" b="1" dirty="0">
                <a:solidFill>
                  <a:schemeClr val="accent2"/>
                </a:solidFill>
              </a:rPr>
              <a:t>Built here</a:t>
            </a:r>
            <a:endParaRPr lang="en-US" sz="1700" dirty="0"/>
          </a:p>
        </p:txBody>
      </p:sp>
      <p:sp>
        <p:nvSpPr>
          <p:cNvPr id="10" name="Text 6"/>
          <p:cNvSpPr txBox="1"/>
          <p:nvPr/>
        </p:nvSpPr>
        <p:spPr>
          <a:xfrm>
            <a:off x="5349240" y="1143000"/>
            <a:ext cx="3200400" cy="365760"/>
          </a:xfrm>
          <a:prstGeom prst="rect">
            <a:avLst/>
          </a:prstGeom>
          <a:noFill/>
          <a:ln/>
        </p:spPr>
        <p:txBody>
          <a:bodyPr wrap="square" lIns="0" tIns="0" rIns="0" bIns="0" rtlCol="0" anchor="ctr"/>
          <a:lstStyle/>
          <a:p>
            <a:pPr indent="0" marL="0">
              <a:buNone/>
            </a:pPr>
            <a:r>
              <a:rPr lang="en-US" sz="1700" b="1" dirty="0">
                <a:solidFill>
                  <a:schemeClr val="accent2"/>
                </a:solidFill>
              </a:rPr>
              <a:t>Honest limits</a:t>
            </a:r>
            <a:endParaRPr lang="en-US" sz="1700" dirty="0"/>
          </a:p>
        </p:txBody>
      </p:sp>
      <p:sp>
        <p:nvSpPr>
          <p:cNvPr id="11" name="Text 7"/>
          <p:cNvSpPr txBox="1"/>
          <p:nvPr/>
        </p:nvSpPr>
        <p:spPr>
          <a:xfrm>
            <a:off x="548640" y="4434840"/>
            <a:ext cx="8046720" cy="365760"/>
          </a:xfrm>
          <a:prstGeom prst="rect">
            <a:avLst/>
          </a:prstGeom>
          <a:noFill/>
          <a:ln/>
        </p:spPr>
        <p:txBody>
          <a:bodyPr wrap="square" lIns="0" tIns="0" rIns="0" bIns="0" rtlCol="0" anchor="ctr"/>
          <a:lstStyle/>
          <a:p>
            <a:pPr indent="0" marL="0">
              <a:buNone/>
            </a:pPr>
            <a:r>
              <a:rPr lang="en-US" sz="1500" i="1" dirty="0">
                <a:solidFill>
                  <a:schemeClr val="accent6"/>
                </a:solidFill>
              </a:rPr>
              <a:t>SkillLeak AI - find the gap, prove the skill.</a:t>
            </a:r>
            <a:endParaRPr lang="en-US" sz="15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FD8D5"/>
                </a:solidFill>
              </a:defRPr>
            </a:lvl1pPr>
          </a:lstStyle>
          <a:p>
            <a:pPr algn="l"/>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SkillLeak">
  <a:themeElements>
    <a:clrScheme name="SkillLeak">
      <a:dk1>
        <a:srgbClr val="13232B"/>
      </a:dk1>
      <a:lt1>
        <a:srgbClr val="FFFFFF"/>
      </a:lt1>
      <a:dk2>
        <a:srgbClr val="0E4D4F"/>
      </a:dk2>
      <a:lt2>
        <a:srgbClr val="EEF4F3"/>
      </a:lt2>
      <a:accent1>
        <a:srgbClr val="0E7C7B"/>
      </a:accent1>
      <a:accent2>
        <a:srgbClr val="F2A541"/>
      </a:accent2>
      <a:accent3>
        <a:srgbClr val="C8394B"/>
      </a:accent3>
      <a:accent4>
        <a:srgbClr val="2E8B57"/>
      </a:accent4>
      <a:accent5>
        <a:srgbClr val="5C6B73"/>
      </a:accent5>
      <a:accent6>
        <a:srgbClr val="BFD8D5"/>
      </a:accent6>
      <a:hlink>
        <a:srgbClr val="0E7C7B"/>
      </a:hlink>
      <a:folHlink>
        <a:srgbClr val="5C6B73"/>
      </a:folHlink>
    </a:clrScheme>
    <a:fontScheme name="SkillLea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SkillLeak AI - AICON'26 Build With AI</dc:title>
  <dc:subject>PptxGenJS Presentation</dc:subject>
  <dc:creator>Abdul Sammi Khan</dc:creator>
  <cp:lastModifiedBy>Abdul Sammi Khan</cp:lastModifiedBy>
  <cp:revision>1</cp:revision>
  <dcterms:created xsi:type="dcterms:W3CDTF">2026-10-10T13:25:40Z</dcterms:created>
  <dcterms:modified xsi:type="dcterms:W3CDTF">2026-10-10T13:25:40Z</dcterms:modified>
</cp:coreProperties>
</file>